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147"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3392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afternoon, everyone. Today we're presenting the QSR Location Health Index -- think of it as a health check-up for every one of VP Analytics' restaurant locations, built entirely from public customer reviews and ratings. We looked at over 19,000 locations, and about 14,000 of those are still open today. The one number to remember from this whole presentation is 0.83 -- that's how confident we are in our model once we removed every shortcut it could have taken. We'll explain what that means shortly. We also didn't settle for one version of this scorecard -- we built four different versions and tested them against each other, so what you're seeing today has been challenged, not just accepted on the first try.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restaurant brand asks the same four questions about its locations, but a simple star rating can't answer any of them well. Which locations are struggling? What's actually causing the problem? How does a location compare to the restaurants around it? And out of everything that needs fixing, what should be tackled first? This scorecard was built specifically to answer these four questions, not just to produce one more number to glance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we got there, in four stages. First, we made sure the data could be trusted before building anything on top of it. Second, we built the evidence -- reading through customer reviews to understand what people were saying and how each location was trending over time. Third, we built and tested the actual scoring system, comparing different versions against each other rather than picking one and hoping it was right. Fourth, we made it usable -- explaining every score in plain terms and being upfront about how confident we are in each one. Here's why that discipline mattered: early on, one version of our model looked incredibly accurate, over 95 percent -- but it turned out to be cheating. We caught that before it could mislead anyone, and the next slide explains how.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scoring anything, we made sure we were comparing similar restaurants to each other. A coffee shop and a burger place don't get the same star ratings on average, so it wouldn't be fair to judge them side by side. Instead, every location is compared only to similar, nearby competitors -- the typical location has well over a hundred comparable peers to be measured against. A small number of locations don't have many peers nearby, and for those we're upfront that our confidence in the score is lower.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probably the most important slide in the deck, so let's slow down here. We don't have sales figures or confirmed closure records for these locations, so we needed some real-world way to check whether the signals behind our score -- peer ratings, engagement, review sentiment -- actually mean anything, rather than just being numbers that look reasonable. So we tested them against the closest real-world fact we do have: can these same signals predict whether a restaurant is still open today, or has it already closed down? If they can, that's good evidence they're picking up something real. Our first attempt looked amazing -- right 97 percent of the time. But when we dug in, it was cheating: a closed restaurant simply stops getting new reviews, so the model was just noticing which places had gone quiet, not which places were actually unhealthy. Once we removed that shortcut and forced it to work only with fair, honest signals, accuracy dropped to a more modest 83 percent. That lower number is the trustworthy one -- it tells us the ingredients behind our score genuinely relate to whether a business survives, and it's the number we stand behind for the rest of this work.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also read through customer reviews to work out exactly what people are complaining about -- is it slow service, food quality, cleanliness, staff friendliness, order accuracy, or price? Interestingly, the thing customers mention most often isn't always the thing that best predicts real trouble at a location. That distinction matters for operators: knowing what people talk about most is useful, but knowing what actually predicts risk is what should guide where attention goes.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make this real with two actual locations rather than just talking in the abstract. On the left is Bryn and Dane's in Horsham, Pennsylvania -- a struggling location. Its overall score is 36 out of 100, it's flagged High Risk, and it has been getting worse. Notice it actually has strong customer engagement -- plenty of reviews and check-ins -- but that alone couldn't save it, because how it compares to nearby competitors, and its recent direction, are both weak. On the right is an In-N-Out Burger in Tucson, Arizona -- a healthy location scoring 85 out of 100, improving, and strong across every single measure, not just one. That contrast is really the whole point of this slide: a location doesn't become healthy by being great at one thing, it becomes healthy by not having a weak link. Every one of our 19,000-plus locations gets exactly this kind of breakdown, not just a single number.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fair question at this point is: why do we weigh these four things the way we do? To be upfront -- this isn't hard science, it's business judgement, and that's a perfectly reasonable way to build something like this. We weigh how a location compares to its local competitors the most, because health only really means something in context. Engagement -- reviews, check-ins, tips -- comes next, because it shows real customer activity. Direction of travel matters too, so we don't miss a location that looks fine today but is quietly sliding. And the specific, fixable things like food quality or cleanliness carry real weight, just slightly less, because that signal is noisier at the individual review level. The next slide shows why we're comfortable with this: even if you would weigh these quite differently, the overall picture barely changes.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second, separate check -- not the four-way comparison from a moment ago. Here we took the formula we actually chose and asked: what if someone reasonably disagreed with these exact weights? We tried five deliberately different alternative weightings -- what if peer standing mattered a lot more, or engagement did, or momentum did -- and re-ran the numbers each time. The reassuring finding is that no matter which of those five we tried, the overall picture of which locations are healthy and which are struggling stayed at least 95 percent consistent with what we actually chose. That tells us the formula isn't fragile -- even a real disagreement about the exact weights wouldn't flip the results. What can still shift under those same alternative weights is any single location's exact position -- we'll come back to that in the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Knowing a location is unhealthy isn't enough -- you also need to know whether it's getting better or worse, and how much evidence we actually have behind that read. So instead of boiling everything into one number, we combine three things: how healthy a location is right now, which direction it's heading, and how confident we are in that direction. That means a location that looks fine today but is clearly sliding can be flagged as more urgent than one that's already struggling but stable -- because the sliding location is the bigger opportunity to step in before it becomes a real problem.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should VP Analytics do with this? Three things. First, get real business outcomes -- actual sales figures or confirmed closures -- so we can check this scorecard against reality, not just against itself. Second, treat the rules behind the scorecard as something to be written down and reviewed regularly, not buried in code where no one can question it. Third, roll this out with a person reviewing the flagged locations at first, rather than moving straight to fully automatic action -- today this is a strong decision-support tool, not a replacement for judgement.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close, it's important to be upfront about what this can and can't do yet. We don't have real sales figures or confirmed closures to check our score against -- so far, everything is validated against itself, not against outside proof. The data is also a snapshot through January 2022, not a live feed. We made some deliberate simplifications too -- reading sentiment with a simpler, transparent method rather than the most advanced language models available, and using an automated rule rather than manually checking every single one of the 19,000-plus locations. And there are things we haven't tackled yet, like rolling scores up across multiple locations owned by the same franchise. None of this undermines the overall picture, but it does mean any single location's exact position shouldn't be treated as gospel.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bring it all together: we built one clear, defensible health score covering every location, and we tested it against several alternatives rather than assuming we'd got it right the first time. The score doesn't just say how healthy a location is -- it says which direction it's heading and how much to trust that read, which a single number never could. For VP Analytics, that means a ranked, evidence-backed shortlist operators can actually act on today. And perhaps the most important part of this work is what we chose not to claim: we're not saying this proves how a location is actually run, only that it's a strong, honest read of the public signals available to us today.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We're happy to take any questions, whether that's about the numbers, the recommendations, or where this could go next.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F28"/>
        </a:solidFill>
        <a:effectLst/>
      </p:bgPr>
    </p:bg>
    <p:spTree>
      <p:nvGrpSpPr>
        <p:cNvPr id="1" name=""/>
        <p:cNvGrpSpPr/>
        <p:nvPr/>
      </p:nvGrpSpPr>
      <p:grpSpPr>
        <a:xfrm>
          <a:off x="0" y="0"/>
          <a:ext cx="0" cy="0"/>
          <a:chOff x="0" y="0"/>
          <a:chExt cx="0" cy="0"/>
        </a:xfrm>
      </p:grpSpPr>
      <p:sp>
        <p:nvSpPr>
          <p:cNvPr id="2" name="TextBox 1"/>
          <p:cNvSpPr txBox="1"/>
          <p:nvPr/>
        </p:nvSpPr>
        <p:spPr>
          <a:xfrm>
            <a:off x="640080" y="1965960"/>
            <a:ext cx="9144000" cy="274320"/>
          </a:xfrm>
          <a:prstGeom prst="rect">
            <a:avLst/>
          </a:prstGeom>
          <a:noFill/>
        </p:spPr>
        <p:txBody>
          <a:bodyPr wrap="square" lIns="0" tIns="0" rIns="0" bIns="0" anchor="t">
            <a:spAutoFit/>
          </a:bodyPr>
          <a:lstStyle/>
          <a:p>
            <a:pPr algn="l">
              <a:lnSpc>
                <a:spcPct val="112000"/>
              </a:lnSpc>
            </a:pPr>
            <a:r>
              <a:rPr sz="1200" b="1" i="0">
                <a:solidFill>
                  <a:srgbClr val="8FC4CF"/>
                </a:solidFill>
                <a:latin typeface="Calibri"/>
              </a:rPr>
              <a:t>AGENCY 5  -  VP ANALYTICS EMPLOYER PROJECT</a:t>
            </a:r>
          </a:p>
        </p:txBody>
      </p:sp>
      <p:sp>
        <p:nvSpPr>
          <p:cNvPr id="3" name="TextBox 2"/>
          <p:cNvSpPr txBox="1"/>
          <p:nvPr/>
        </p:nvSpPr>
        <p:spPr>
          <a:xfrm>
            <a:off x="640080" y="2331720"/>
            <a:ext cx="10515600" cy="1188720"/>
          </a:xfrm>
          <a:prstGeom prst="rect">
            <a:avLst/>
          </a:prstGeom>
          <a:noFill/>
        </p:spPr>
        <p:txBody>
          <a:bodyPr wrap="square" lIns="0" tIns="0" rIns="0" bIns="0" anchor="t">
            <a:spAutoFit/>
          </a:bodyPr>
          <a:lstStyle/>
          <a:p>
            <a:pPr algn="l">
              <a:lnSpc>
                <a:spcPct val="112000"/>
              </a:lnSpc>
            </a:pPr>
            <a:r>
              <a:rPr sz="4600" b="1" i="0">
                <a:solidFill>
                  <a:srgbClr val="FFFFFF"/>
                </a:solidFill>
                <a:latin typeface="Cambria"/>
              </a:rPr>
              <a:t>The QSR Location Health Index</a:t>
            </a:r>
          </a:p>
        </p:txBody>
      </p:sp>
      <p:sp>
        <p:nvSpPr>
          <p:cNvPr id="4" name="TextBox 3"/>
          <p:cNvSpPr txBox="1"/>
          <p:nvPr/>
        </p:nvSpPr>
        <p:spPr>
          <a:xfrm>
            <a:off x="640080" y="3611880"/>
            <a:ext cx="9692640" cy="822960"/>
          </a:xfrm>
          <a:prstGeom prst="rect">
            <a:avLst/>
          </a:prstGeom>
          <a:noFill/>
        </p:spPr>
        <p:txBody>
          <a:bodyPr wrap="square" lIns="0" tIns="0" rIns="0" bIns="0" anchor="t">
            <a:spAutoFit/>
          </a:bodyPr>
          <a:lstStyle/>
          <a:p>
            <a:pPr algn="l">
              <a:lnSpc>
                <a:spcPct val="125000"/>
              </a:lnSpc>
            </a:pPr>
            <a:r>
              <a:rPr sz="1800" b="0" i="0">
                <a:solidFill>
                  <a:srgbClr val="C3C9D2"/>
                </a:solidFill>
                <a:latin typeface="Cambria"/>
              </a:rPr>
              <a:t>A defensible, evidence-tested digital-health scorecard for quick-service restaurant operators -- built to be challenged, not just believed.</a:t>
            </a:r>
          </a:p>
        </p:txBody>
      </p:sp>
      <p:sp>
        <p:nvSpPr>
          <p:cNvPr id="5" name="TextBox 4"/>
          <p:cNvSpPr txBox="1"/>
          <p:nvPr/>
        </p:nvSpPr>
        <p:spPr>
          <a:xfrm>
            <a:off x="640080" y="4709160"/>
            <a:ext cx="2522143" cy="594360"/>
          </a:xfrm>
          <a:prstGeom prst="rect">
            <a:avLst/>
          </a:prstGeom>
          <a:noFill/>
        </p:spPr>
        <p:txBody>
          <a:bodyPr wrap="square" lIns="0" tIns="0" rIns="0" bIns="0" anchor="t">
            <a:spAutoFit/>
          </a:bodyPr>
          <a:lstStyle/>
          <a:p>
            <a:pPr algn="l">
              <a:lnSpc>
                <a:spcPct val="112000"/>
              </a:lnSpc>
            </a:pPr>
            <a:r>
              <a:rPr sz="3400" b="1" i="0">
                <a:solidFill>
                  <a:srgbClr val="8FC4CF"/>
                </a:solidFill>
                <a:latin typeface="Cambria"/>
              </a:rPr>
              <a:t>19,154</a:t>
            </a:r>
          </a:p>
        </p:txBody>
      </p:sp>
      <p:sp>
        <p:nvSpPr>
          <p:cNvPr id="6" name="TextBox 5"/>
          <p:cNvSpPr txBox="1"/>
          <p:nvPr/>
        </p:nvSpPr>
        <p:spPr>
          <a:xfrm>
            <a:off x="640080" y="5330952"/>
            <a:ext cx="2522143" cy="548640"/>
          </a:xfrm>
          <a:prstGeom prst="rect">
            <a:avLst/>
          </a:prstGeom>
          <a:noFill/>
        </p:spPr>
        <p:txBody>
          <a:bodyPr wrap="square" lIns="0" tIns="0" rIns="0" bIns="0" anchor="t">
            <a:spAutoFit/>
          </a:bodyPr>
          <a:lstStyle/>
          <a:p>
            <a:pPr algn="l">
              <a:lnSpc>
                <a:spcPct val="112000"/>
              </a:lnSpc>
            </a:pPr>
            <a:r>
              <a:rPr sz="1150" b="0" i="0">
                <a:solidFill>
                  <a:srgbClr val="A9B2BD"/>
                </a:solidFill>
                <a:latin typeface="Calibri"/>
              </a:rPr>
              <a:t>QSR locations scored</a:t>
            </a:r>
          </a:p>
        </p:txBody>
      </p:sp>
      <p:sp>
        <p:nvSpPr>
          <p:cNvPr id="7" name="TextBox 6"/>
          <p:cNvSpPr txBox="1"/>
          <p:nvPr/>
        </p:nvSpPr>
        <p:spPr>
          <a:xfrm>
            <a:off x="3436543" y="4709160"/>
            <a:ext cx="2522143" cy="594360"/>
          </a:xfrm>
          <a:prstGeom prst="rect">
            <a:avLst/>
          </a:prstGeom>
          <a:noFill/>
        </p:spPr>
        <p:txBody>
          <a:bodyPr wrap="square" lIns="0" tIns="0" rIns="0" bIns="0" anchor="t">
            <a:spAutoFit/>
          </a:bodyPr>
          <a:lstStyle/>
          <a:p>
            <a:pPr algn="l">
              <a:lnSpc>
                <a:spcPct val="112000"/>
              </a:lnSpc>
            </a:pPr>
            <a:r>
              <a:rPr sz="3400" b="1" i="0">
                <a:solidFill>
                  <a:srgbClr val="8FC4CF"/>
                </a:solidFill>
                <a:latin typeface="Cambria"/>
              </a:rPr>
              <a:t>13,719</a:t>
            </a:r>
          </a:p>
        </p:txBody>
      </p:sp>
      <p:sp>
        <p:nvSpPr>
          <p:cNvPr id="8" name="TextBox 7"/>
          <p:cNvSpPr txBox="1"/>
          <p:nvPr/>
        </p:nvSpPr>
        <p:spPr>
          <a:xfrm>
            <a:off x="3436543" y="5330952"/>
            <a:ext cx="2522143" cy="548640"/>
          </a:xfrm>
          <a:prstGeom prst="rect">
            <a:avLst/>
          </a:prstGeom>
          <a:noFill/>
        </p:spPr>
        <p:txBody>
          <a:bodyPr wrap="square" lIns="0" tIns="0" rIns="0" bIns="0" anchor="t">
            <a:spAutoFit/>
          </a:bodyPr>
          <a:lstStyle/>
          <a:p>
            <a:pPr algn="l">
              <a:lnSpc>
                <a:spcPct val="112000"/>
              </a:lnSpc>
            </a:pPr>
            <a:r>
              <a:rPr sz="1150" b="0" i="0">
                <a:solidFill>
                  <a:srgbClr val="A9B2BD"/>
                </a:solidFill>
                <a:latin typeface="Calibri"/>
              </a:rPr>
              <a:t>currently open</a:t>
            </a:r>
          </a:p>
        </p:txBody>
      </p:sp>
      <p:sp>
        <p:nvSpPr>
          <p:cNvPr id="9" name="TextBox 8"/>
          <p:cNvSpPr txBox="1"/>
          <p:nvPr/>
        </p:nvSpPr>
        <p:spPr>
          <a:xfrm>
            <a:off x="6233007" y="4709160"/>
            <a:ext cx="2522143" cy="594360"/>
          </a:xfrm>
          <a:prstGeom prst="rect">
            <a:avLst/>
          </a:prstGeom>
          <a:noFill/>
        </p:spPr>
        <p:txBody>
          <a:bodyPr wrap="square" lIns="0" tIns="0" rIns="0" bIns="0" anchor="t">
            <a:spAutoFit/>
          </a:bodyPr>
          <a:lstStyle/>
          <a:p>
            <a:pPr algn="l">
              <a:lnSpc>
                <a:spcPct val="112000"/>
              </a:lnSpc>
            </a:pPr>
            <a:r>
              <a:rPr sz="3400" b="1" i="0">
                <a:solidFill>
                  <a:srgbClr val="8FC4CF"/>
                </a:solidFill>
                <a:latin typeface="Cambria"/>
              </a:rPr>
              <a:t>0.83</a:t>
            </a:r>
          </a:p>
        </p:txBody>
      </p:sp>
      <p:sp>
        <p:nvSpPr>
          <p:cNvPr id="10" name="TextBox 9"/>
          <p:cNvSpPr txBox="1"/>
          <p:nvPr/>
        </p:nvSpPr>
        <p:spPr>
          <a:xfrm>
            <a:off x="6233007" y="5330952"/>
            <a:ext cx="2522143" cy="548640"/>
          </a:xfrm>
          <a:prstGeom prst="rect">
            <a:avLst/>
          </a:prstGeom>
          <a:noFill/>
        </p:spPr>
        <p:txBody>
          <a:bodyPr wrap="square" lIns="0" tIns="0" rIns="0" bIns="0" anchor="t">
            <a:spAutoFit/>
          </a:bodyPr>
          <a:lstStyle/>
          <a:p>
            <a:pPr algn="l">
              <a:lnSpc>
                <a:spcPct val="112000"/>
              </a:lnSpc>
            </a:pPr>
            <a:r>
              <a:rPr sz="1150" b="0" i="0">
                <a:solidFill>
                  <a:srgbClr val="A9B2BD"/>
                </a:solidFill>
                <a:latin typeface="Calibri"/>
              </a:rPr>
              <a:t>ROC-AUC, leakage-audited (not the inflated 0.97)</a:t>
            </a:r>
          </a:p>
        </p:txBody>
      </p:sp>
      <p:sp>
        <p:nvSpPr>
          <p:cNvPr id="11" name="TextBox 10"/>
          <p:cNvSpPr txBox="1"/>
          <p:nvPr/>
        </p:nvSpPr>
        <p:spPr>
          <a:xfrm>
            <a:off x="9029471" y="4709160"/>
            <a:ext cx="2522143" cy="594360"/>
          </a:xfrm>
          <a:prstGeom prst="rect">
            <a:avLst/>
          </a:prstGeom>
          <a:noFill/>
        </p:spPr>
        <p:txBody>
          <a:bodyPr wrap="square" lIns="0" tIns="0" rIns="0" bIns="0" anchor="t">
            <a:spAutoFit/>
          </a:bodyPr>
          <a:lstStyle/>
          <a:p>
            <a:pPr algn="l">
              <a:lnSpc>
                <a:spcPct val="112000"/>
              </a:lnSpc>
            </a:pPr>
            <a:r>
              <a:rPr sz="3400" b="1" i="0">
                <a:solidFill>
                  <a:srgbClr val="8FC4CF"/>
                </a:solidFill>
                <a:latin typeface="Cambria"/>
              </a:rPr>
              <a:t>4</a:t>
            </a:r>
          </a:p>
        </p:txBody>
      </p:sp>
      <p:sp>
        <p:nvSpPr>
          <p:cNvPr id="12" name="TextBox 11"/>
          <p:cNvSpPr txBox="1"/>
          <p:nvPr/>
        </p:nvSpPr>
        <p:spPr>
          <a:xfrm>
            <a:off x="9029471" y="5330952"/>
            <a:ext cx="2522143" cy="548640"/>
          </a:xfrm>
          <a:prstGeom prst="rect">
            <a:avLst/>
          </a:prstGeom>
          <a:noFill/>
        </p:spPr>
        <p:txBody>
          <a:bodyPr wrap="square" lIns="0" tIns="0" rIns="0" bIns="0" anchor="t">
            <a:spAutoFit/>
          </a:bodyPr>
          <a:lstStyle/>
          <a:p>
            <a:pPr algn="l">
              <a:lnSpc>
                <a:spcPct val="112000"/>
              </a:lnSpc>
            </a:pPr>
            <a:r>
              <a:rPr sz="1150" b="0" i="0">
                <a:solidFill>
                  <a:srgbClr val="A9B2BD"/>
                </a:solidFill>
                <a:latin typeface="Calibri"/>
              </a:rPr>
              <a:t>competing index designs compared</a:t>
            </a:r>
          </a:p>
        </p:txBody>
      </p:sp>
      <p:sp>
        <p:nvSpPr>
          <p:cNvPr id="13" name="TextBox 12"/>
          <p:cNvSpPr txBox="1"/>
          <p:nvPr/>
        </p:nvSpPr>
        <p:spPr>
          <a:xfrm>
            <a:off x="640080" y="6400800"/>
            <a:ext cx="10911535" cy="365760"/>
          </a:xfrm>
          <a:prstGeom prst="rect">
            <a:avLst/>
          </a:prstGeom>
          <a:noFill/>
        </p:spPr>
        <p:txBody>
          <a:bodyPr wrap="square" lIns="0" tIns="0" rIns="0" bIns="0" anchor="t">
            <a:spAutoFit/>
          </a:bodyPr>
          <a:lstStyle/>
          <a:p>
            <a:pPr algn="l">
              <a:lnSpc>
                <a:spcPct val="112000"/>
              </a:lnSpc>
            </a:pPr>
            <a:r>
              <a:rPr sz="1000" b="0" i="1">
                <a:solidFill>
                  <a:srgbClr val="7C8794"/>
                </a:solidFill>
                <a:latin typeface="Calibri"/>
              </a:rPr>
              <a:t>Prepared for VP Analytics leadership  -  LSE Data Analytics Career Accelerator  -  Source: Yelp Open Dataset, historical through 19 Jan 2022</a:t>
            </a:r>
          </a:p>
        </p:txBody>
      </p:sp>
      <p:pic>
        <p:nvPicPr>
          <p:cNvPr id="15" name="Picture 14" descr="logo_teal_crop.png">
            <a:extLst>
              <a:ext uri="{FF2B5EF4-FFF2-40B4-BE49-F238E27FC236}">
                <a16:creationId xmlns:a16="http://schemas.microsoft.com/office/drawing/2014/main" id="{32F17DF6-4D61-254A-C595-3B609B34DBCC}"/>
              </a:ext>
            </a:extLst>
          </p:cNvPr>
          <p:cNvPicPr>
            <a:picLocks noChangeAspect="1"/>
          </p:cNvPicPr>
          <p:nvPr/>
        </p:nvPicPr>
        <p:blipFill>
          <a:blip r:embed="rId3"/>
          <a:stretch>
            <a:fillRect/>
          </a:stretch>
        </p:blipFill>
        <p:spPr>
          <a:xfrm>
            <a:off x="640080" y="365760"/>
            <a:ext cx="1417320" cy="97187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BUSINESS CONTEXT  -  01</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700" b="1" i="0">
                <a:solidFill>
                  <a:srgbClr val="141F28"/>
                </a:solidFill>
                <a:latin typeface="Cambria"/>
              </a:rPr>
              <a:t>A useful scorecard must answer four operational questions</a:t>
            </a:r>
          </a:p>
        </p:txBody>
      </p:sp>
      <p:sp>
        <p:nvSpPr>
          <p:cNvPr id="4" name="Rectangle 3"/>
          <p:cNvSpPr/>
          <p:nvPr/>
        </p:nvSpPr>
        <p:spPr>
          <a:xfrm>
            <a:off x="640080" y="2176272"/>
            <a:ext cx="54864" cy="603504"/>
          </a:xfrm>
          <a:prstGeom prst="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2148840"/>
            <a:ext cx="10618927" cy="384048"/>
          </a:xfrm>
          <a:prstGeom prst="rect">
            <a:avLst/>
          </a:prstGeom>
          <a:noFill/>
        </p:spPr>
        <p:txBody>
          <a:bodyPr wrap="square" lIns="0" tIns="0" rIns="0" bIns="0" anchor="t">
            <a:spAutoFit/>
          </a:bodyPr>
          <a:lstStyle/>
          <a:p>
            <a:pPr algn="l">
              <a:lnSpc>
                <a:spcPct val="112000"/>
              </a:lnSpc>
            </a:pPr>
            <a:r>
              <a:rPr sz="2100" b="1" i="0">
                <a:solidFill>
                  <a:srgbClr val="141F28"/>
                </a:solidFill>
                <a:latin typeface="Cambria"/>
              </a:rPr>
              <a:t>Which outlets are at risk?</a:t>
            </a:r>
          </a:p>
        </p:txBody>
      </p:sp>
      <p:sp>
        <p:nvSpPr>
          <p:cNvPr id="6" name="TextBox 5"/>
          <p:cNvSpPr txBox="1"/>
          <p:nvPr/>
        </p:nvSpPr>
        <p:spPr>
          <a:xfrm>
            <a:off x="932688" y="2569464"/>
            <a:ext cx="10618927" cy="457200"/>
          </a:xfrm>
          <a:prstGeom prst="rect">
            <a:avLst/>
          </a:prstGeom>
          <a:noFill/>
        </p:spPr>
        <p:txBody>
          <a:bodyPr wrap="square" lIns="0" tIns="0" rIns="0" bIns="0" anchor="t">
            <a:spAutoFit/>
          </a:bodyPr>
          <a:lstStyle/>
          <a:p>
            <a:pPr algn="l">
              <a:lnSpc>
                <a:spcPct val="120000"/>
              </a:lnSpc>
            </a:pPr>
            <a:r>
              <a:rPr sz="1450" b="0" i="0">
                <a:solidFill>
                  <a:srgbClr val="57626D"/>
                </a:solidFill>
                <a:latin typeface="Calibri"/>
              </a:rPr>
              <a:t>A portfolio-wide view of location health, identifying which outlets are stable, vulnerable, or require attention.</a:t>
            </a:r>
          </a:p>
        </p:txBody>
      </p:sp>
      <p:sp>
        <p:nvSpPr>
          <p:cNvPr id="7" name="Rectangle 6"/>
          <p:cNvSpPr/>
          <p:nvPr/>
        </p:nvSpPr>
        <p:spPr>
          <a:xfrm>
            <a:off x="640080" y="3163824"/>
            <a:ext cx="54864" cy="603504"/>
          </a:xfrm>
          <a:prstGeom prst="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3136392"/>
            <a:ext cx="10618927" cy="384048"/>
          </a:xfrm>
          <a:prstGeom prst="rect">
            <a:avLst/>
          </a:prstGeom>
          <a:noFill/>
        </p:spPr>
        <p:txBody>
          <a:bodyPr wrap="square" lIns="0" tIns="0" rIns="0" bIns="0" anchor="t">
            <a:spAutoFit/>
          </a:bodyPr>
          <a:lstStyle/>
          <a:p>
            <a:pPr algn="l">
              <a:lnSpc>
                <a:spcPct val="112000"/>
              </a:lnSpc>
            </a:pPr>
            <a:r>
              <a:rPr sz="2100" b="1" i="0">
                <a:solidFill>
                  <a:srgbClr val="141F28"/>
                </a:solidFill>
                <a:latin typeface="Cambria"/>
              </a:rPr>
              <a:t>What is driving the risk?</a:t>
            </a:r>
          </a:p>
        </p:txBody>
      </p:sp>
      <p:sp>
        <p:nvSpPr>
          <p:cNvPr id="9" name="TextBox 8"/>
          <p:cNvSpPr txBox="1"/>
          <p:nvPr/>
        </p:nvSpPr>
        <p:spPr>
          <a:xfrm>
            <a:off x="932688" y="3557016"/>
            <a:ext cx="10618927" cy="457200"/>
          </a:xfrm>
          <a:prstGeom prst="rect">
            <a:avLst/>
          </a:prstGeom>
          <a:noFill/>
        </p:spPr>
        <p:txBody>
          <a:bodyPr wrap="square" lIns="0" tIns="0" rIns="0" bIns="0" anchor="t">
            <a:spAutoFit/>
          </a:bodyPr>
          <a:lstStyle/>
          <a:p>
            <a:pPr algn="l">
              <a:lnSpc>
                <a:spcPct val="120000"/>
              </a:lnSpc>
            </a:pPr>
            <a:r>
              <a:rPr sz="1450" b="0" i="0">
                <a:solidFill>
                  <a:srgbClr val="57626D"/>
                </a:solidFill>
                <a:latin typeface="Calibri"/>
              </a:rPr>
              <a:t>Pillar attribution and customer-voice evidence, not just a number.</a:t>
            </a:r>
          </a:p>
        </p:txBody>
      </p:sp>
      <p:sp>
        <p:nvSpPr>
          <p:cNvPr id="10" name="Rectangle 9"/>
          <p:cNvSpPr/>
          <p:nvPr/>
        </p:nvSpPr>
        <p:spPr>
          <a:xfrm>
            <a:off x="640080" y="4151376"/>
            <a:ext cx="54864" cy="603504"/>
          </a:xfrm>
          <a:prstGeom prst="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123944"/>
            <a:ext cx="10618927" cy="384048"/>
          </a:xfrm>
          <a:prstGeom prst="rect">
            <a:avLst/>
          </a:prstGeom>
          <a:noFill/>
        </p:spPr>
        <p:txBody>
          <a:bodyPr wrap="square" lIns="0" tIns="0" rIns="0" bIns="0" anchor="t">
            <a:spAutoFit/>
          </a:bodyPr>
          <a:lstStyle/>
          <a:p>
            <a:pPr algn="l">
              <a:lnSpc>
                <a:spcPct val="112000"/>
              </a:lnSpc>
            </a:pPr>
            <a:r>
              <a:rPr sz="2100" b="1" i="0">
                <a:solidFill>
                  <a:srgbClr val="141F28"/>
                </a:solidFill>
                <a:latin typeface="Cambria"/>
              </a:rPr>
              <a:t>How do they compare to peers?</a:t>
            </a:r>
          </a:p>
        </p:txBody>
      </p:sp>
      <p:sp>
        <p:nvSpPr>
          <p:cNvPr id="12" name="TextBox 11"/>
          <p:cNvSpPr txBox="1"/>
          <p:nvPr/>
        </p:nvSpPr>
        <p:spPr>
          <a:xfrm>
            <a:off x="932688" y="4544568"/>
            <a:ext cx="10618927" cy="457200"/>
          </a:xfrm>
          <a:prstGeom prst="rect">
            <a:avLst/>
          </a:prstGeom>
          <a:noFill/>
        </p:spPr>
        <p:txBody>
          <a:bodyPr wrap="square" lIns="0" tIns="0" rIns="0" bIns="0" anchor="t">
            <a:spAutoFit/>
          </a:bodyPr>
          <a:lstStyle/>
          <a:p>
            <a:pPr algn="l">
              <a:lnSpc>
                <a:spcPct val="120000"/>
              </a:lnSpc>
            </a:pPr>
            <a:r>
              <a:rPr sz="1450" b="0" i="0">
                <a:solidFill>
                  <a:srgbClr val="57626D"/>
                </a:solidFill>
                <a:latin typeface="Calibri"/>
              </a:rPr>
              <a:t>Health only means something in the context of nearby competition.</a:t>
            </a:r>
          </a:p>
        </p:txBody>
      </p:sp>
      <p:sp>
        <p:nvSpPr>
          <p:cNvPr id="13" name="Rectangle 12"/>
          <p:cNvSpPr/>
          <p:nvPr/>
        </p:nvSpPr>
        <p:spPr>
          <a:xfrm>
            <a:off x="640080" y="5138928"/>
            <a:ext cx="54864" cy="603504"/>
          </a:xfrm>
          <a:prstGeom prst="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5111496"/>
            <a:ext cx="10618927" cy="384048"/>
          </a:xfrm>
          <a:prstGeom prst="rect">
            <a:avLst/>
          </a:prstGeom>
          <a:noFill/>
        </p:spPr>
        <p:txBody>
          <a:bodyPr wrap="square" lIns="0" tIns="0" rIns="0" bIns="0" anchor="t">
            <a:spAutoFit/>
          </a:bodyPr>
          <a:lstStyle/>
          <a:p>
            <a:pPr algn="l">
              <a:lnSpc>
                <a:spcPct val="112000"/>
              </a:lnSpc>
            </a:pPr>
            <a:r>
              <a:rPr sz="2100" b="1" i="0">
                <a:solidFill>
                  <a:srgbClr val="141F28"/>
                </a:solidFill>
                <a:latin typeface="Cambria"/>
              </a:rPr>
              <a:t>What should be prioritised first?</a:t>
            </a:r>
          </a:p>
        </p:txBody>
      </p:sp>
      <p:sp>
        <p:nvSpPr>
          <p:cNvPr id="15" name="TextBox 14"/>
          <p:cNvSpPr txBox="1"/>
          <p:nvPr/>
        </p:nvSpPr>
        <p:spPr>
          <a:xfrm>
            <a:off x="932688" y="5532120"/>
            <a:ext cx="10618927" cy="457200"/>
          </a:xfrm>
          <a:prstGeom prst="rect">
            <a:avLst/>
          </a:prstGeom>
          <a:noFill/>
        </p:spPr>
        <p:txBody>
          <a:bodyPr wrap="square" lIns="0" tIns="0" rIns="0" bIns="0" anchor="t">
            <a:spAutoFit/>
          </a:bodyPr>
          <a:lstStyle/>
          <a:p>
            <a:pPr algn="l">
              <a:lnSpc>
                <a:spcPct val="120000"/>
              </a:lnSpc>
            </a:pPr>
            <a:r>
              <a:rPr sz="1450" b="0" i="0">
                <a:solidFill>
                  <a:srgbClr val="57626D"/>
                </a:solidFill>
                <a:latin typeface="Calibri"/>
              </a:rPr>
              <a:t>Health and trajectory combined -- not just the lowest-scoring location.</a:t>
            </a:r>
          </a:p>
        </p:txBody>
      </p:sp>
      <p:sp>
        <p:nvSpPr>
          <p:cNvPr id="16" name="TextBox 15"/>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Audience: VP Analytics leadership. Source: QSR_LHI_Technical_Report_Agency5_v5.pdf, Section 02 (The Business Problem and Assignment).</a:t>
            </a:r>
          </a:p>
        </p:txBody>
      </p:sp>
      <p:sp>
        <p:nvSpPr>
          <p:cNvPr id="17" name="TextBox 16"/>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02</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PROJECT DEVELOPMENT PROCESS  -  02</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100" b="1" i="0">
                <a:solidFill>
                  <a:srgbClr val="141F28"/>
                </a:solidFill>
                <a:latin typeface="Cambria"/>
              </a:rPr>
              <a:t>A four-phase pipeline, each phase asserting its own evidence before the next begins</a:t>
            </a:r>
          </a:p>
        </p:txBody>
      </p:sp>
      <p:sp>
        <p:nvSpPr>
          <p:cNvPr id="4" name="Rounded Rectangle 3"/>
          <p:cNvSpPr/>
          <p:nvPr/>
        </p:nvSpPr>
        <p:spPr>
          <a:xfrm>
            <a:off x="640080" y="1965960"/>
            <a:ext cx="2535859" cy="86868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 y="2057400"/>
            <a:ext cx="457200" cy="365760"/>
          </a:xfrm>
          <a:prstGeom prst="rect">
            <a:avLst/>
          </a:prstGeom>
          <a:noFill/>
        </p:spPr>
        <p:txBody>
          <a:bodyPr wrap="square" lIns="0" tIns="0" rIns="0" bIns="0" anchor="t">
            <a:spAutoFit/>
          </a:bodyPr>
          <a:lstStyle/>
          <a:p>
            <a:pPr algn="l">
              <a:lnSpc>
                <a:spcPct val="112000"/>
              </a:lnSpc>
            </a:pPr>
            <a:r>
              <a:rPr sz="2000" b="1" i="0">
                <a:solidFill>
                  <a:srgbClr val="2E6B78"/>
                </a:solidFill>
                <a:latin typeface="Cambria"/>
              </a:rPr>
              <a:t>1</a:t>
            </a:r>
          </a:p>
        </p:txBody>
      </p:sp>
      <p:sp>
        <p:nvSpPr>
          <p:cNvPr id="6" name="TextBox 5"/>
          <p:cNvSpPr txBox="1"/>
          <p:nvPr/>
        </p:nvSpPr>
        <p:spPr>
          <a:xfrm>
            <a:off x="786384" y="2404872"/>
            <a:ext cx="2243251" cy="411480"/>
          </a:xfrm>
          <a:prstGeom prst="rect">
            <a:avLst/>
          </a:prstGeom>
          <a:noFill/>
        </p:spPr>
        <p:txBody>
          <a:bodyPr wrap="square" lIns="0" tIns="0" rIns="0" bIns="0" anchor="t">
            <a:spAutoFit/>
          </a:bodyPr>
          <a:lstStyle/>
          <a:p>
            <a:pPr algn="l">
              <a:lnSpc>
                <a:spcPct val="105000"/>
              </a:lnSpc>
            </a:pPr>
            <a:r>
              <a:rPr sz="1350" b="1" i="0">
                <a:solidFill>
                  <a:srgbClr val="141F28"/>
                </a:solidFill>
                <a:latin typeface="Cambria"/>
              </a:rPr>
              <a:t>Understand the data</a:t>
            </a:r>
          </a:p>
        </p:txBody>
      </p:sp>
      <p:sp>
        <p:nvSpPr>
          <p:cNvPr id="7" name="TextBox 6"/>
          <p:cNvSpPr txBox="1"/>
          <p:nvPr/>
        </p:nvSpPr>
        <p:spPr>
          <a:xfrm>
            <a:off x="685800" y="2999232"/>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Data QA</a:t>
            </a:r>
          </a:p>
        </p:txBody>
      </p:sp>
      <p:sp>
        <p:nvSpPr>
          <p:cNvPr id="8" name="TextBox 7"/>
          <p:cNvSpPr txBox="1"/>
          <p:nvPr/>
        </p:nvSpPr>
        <p:spPr>
          <a:xfrm>
            <a:off x="685800" y="3328415"/>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Review extraction</a:t>
            </a:r>
          </a:p>
        </p:txBody>
      </p:sp>
      <p:sp>
        <p:nvSpPr>
          <p:cNvPr id="9" name="TextBox 8"/>
          <p:cNvSpPr txBox="1"/>
          <p:nvPr/>
        </p:nvSpPr>
        <p:spPr>
          <a:xfrm>
            <a:off x="685800" y="3657599"/>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Deep EDA</a:t>
            </a:r>
          </a:p>
        </p:txBody>
      </p:sp>
      <p:sp>
        <p:nvSpPr>
          <p:cNvPr id="10" name="TextBox 9"/>
          <p:cNvSpPr txBox="1"/>
          <p:nvPr/>
        </p:nvSpPr>
        <p:spPr>
          <a:xfrm>
            <a:off x="3194227" y="2235708"/>
            <a:ext cx="219456" cy="329184"/>
          </a:xfrm>
          <a:prstGeom prst="rect">
            <a:avLst/>
          </a:prstGeom>
          <a:noFill/>
        </p:spPr>
        <p:txBody>
          <a:bodyPr wrap="square" lIns="0" tIns="0" rIns="0" bIns="0" anchor="t">
            <a:spAutoFit/>
          </a:bodyPr>
          <a:lstStyle/>
          <a:p>
            <a:pPr algn="ctr">
              <a:lnSpc>
                <a:spcPct val="112000"/>
              </a:lnSpc>
            </a:pPr>
            <a:r>
              <a:rPr sz="1600" b="1" i="0">
                <a:solidFill>
                  <a:srgbClr val="8B93A0"/>
                </a:solidFill>
                <a:latin typeface="Calibri"/>
              </a:rPr>
              <a:t>&gt;</a:t>
            </a:r>
          </a:p>
        </p:txBody>
      </p:sp>
      <p:sp>
        <p:nvSpPr>
          <p:cNvPr id="11" name="Rounded Rectangle 10"/>
          <p:cNvSpPr/>
          <p:nvPr/>
        </p:nvSpPr>
        <p:spPr>
          <a:xfrm>
            <a:off x="3431971" y="1965960"/>
            <a:ext cx="2535859" cy="86868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78275" y="2057400"/>
            <a:ext cx="457200" cy="365760"/>
          </a:xfrm>
          <a:prstGeom prst="rect">
            <a:avLst/>
          </a:prstGeom>
          <a:noFill/>
        </p:spPr>
        <p:txBody>
          <a:bodyPr wrap="square" lIns="0" tIns="0" rIns="0" bIns="0" anchor="t">
            <a:spAutoFit/>
          </a:bodyPr>
          <a:lstStyle/>
          <a:p>
            <a:pPr algn="l">
              <a:lnSpc>
                <a:spcPct val="112000"/>
              </a:lnSpc>
            </a:pPr>
            <a:r>
              <a:rPr sz="2000" b="1" i="0">
                <a:solidFill>
                  <a:srgbClr val="2E6B78"/>
                </a:solidFill>
                <a:latin typeface="Cambria"/>
              </a:rPr>
              <a:t>2</a:t>
            </a:r>
          </a:p>
        </p:txBody>
      </p:sp>
      <p:sp>
        <p:nvSpPr>
          <p:cNvPr id="13" name="TextBox 12"/>
          <p:cNvSpPr txBox="1"/>
          <p:nvPr/>
        </p:nvSpPr>
        <p:spPr>
          <a:xfrm>
            <a:off x="3578275" y="2404872"/>
            <a:ext cx="2243251" cy="411480"/>
          </a:xfrm>
          <a:prstGeom prst="rect">
            <a:avLst/>
          </a:prstGeom>
          <a:noFill/>
        </p:spPr>
        <p:txBody>
          <a:bodyPr wrap="square" lIns="0" tIns="0" rIns="0" bIns="0" anchor="t">
            <a:spAutoFit/>
          </a:bodyPr>
          <a:lstStyle/>
          <a:p>
            <a:pPr algn="l">
              <a:lnSpc>
                <a:spcPct val="105000"/>
              </a:lnSpc>
            </a:pPr>
            <a:r>
              <a:rPr sz="1350" b="1" i="0">
                <a:solidFill>
                  <a:srgbClr val="141F28"/>
                </a:solidFill>
                <a:latin typeface="Cambria"/>
              </a:rPr>
              <a:t>Build the evidence</a:t>
            </a:r>
          </a:p>
        </p:txBody>
      </p:sp>
      <p:sp>
        <p:nvSpPr>
          <p:cNvPr id="14" name="TextBox 13"/>
          <p:cNvSpPr txBox="1"/>
          <p:nvPr/>
        </p:nvSpPr>
        <p:spPr>
          <a:xfrm>
            <a:off x="3477691" y="2999232"/>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Aspect sentiment</a:t>
            </a:r>
          </a:p>
        </p:txBody>
      </p:sp>
      <p:sp>
        <p:nvSpPr>
          <p:cNvPr id="15" name="TextBox 14"/>
          <p:cNvSpPr txBox="1"/>
          <p:nvPr/>
        </p:nvSpPr>
        <p:spPr>
          <a:xfrm>
            <a:off x="3477691" y="3328415"/>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Peer / CX scoring</a:t>
            </a:r>
          </a:p>
        </p:txBody>
      </p:sp>
      <p:sp>
        <p:nvSpPr>
          <p:cNvPr id="16" name="TextBox 15"/>
          <p:cNvSpPr txBox="1"/>
          <p:nvPr/>
        </p:nvSpPr>
        <p:spPr>
          <a:xfrm>
            <a:off x="3477691" y="3657599"/>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Trajectory</a:t>
            </a:r>
          </a:p>
        </p:txBody>
      </p:sp>
      <p:sp>
        <p:nvSpPr>
          <p:cNvPr id="17" name="TextBox 16"/>
          <p:cNvSpPr txBox="1"/>
          <p:nvPr/>
        </p:nvSpPr>
        <p:spPr>
          <a:xfrm>
            <a:off x="5986119" y="2235708"/>
            <a:ext cx="219456" cy="329184"/>
          </a:xfrm>
          <a:prstGeom prst="rect">
            <a:avLst/>
          </a:prstGeom>
          <a:noFill/>
        </p:spPr>
        <p:txBody>
          <a:bodyPr wrap="square" lIns="0" tIns="0" rIns="0" bIns="0" anchor="t">
            <a:spAutoFit/>
          </a:bodyPr>
          <a:lstStyle/>
          <a:p>
            <a:pPr algn="ctr">
              <a:lnSpc>
                <a:spcPct val="112000"/>
              </a:lnSpc>
            </a:pPr>
            <a:r>
              <a:rPr sz="1600" b="1" i="0">
                <a:solidFill>
                  <a:srgbClr val="8B93A0"/>
                </a:solidFill>
                <a:latin typeface="Calibri"/>
              </a:rPr>
              <a:t>&gt;</a:t>
            </a:r>
          </a:p>
        </p:txBody>
      </p:sp>
      <p:sp>
        <p:nvSpPr>
          <p:cNvPr id="18" name="Rounded Rectangle 17"/>
          <p:cNvSpPr/>
          <p:nvPr/>
        </p:nvSpPr>
        <p:spPr>
          <a:xfrm>
            <a:off x="6223863" y="1965960"/>
            <a:ext cx="2535859" cy="86868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70167" y="2057400"/>
            <a:ext cx="457200" cy="365760"/>
          </a:xfrm>
          <a:prstGeom prst="rect">
            <a:avLst/>
          </a:prstGeom>
          <a:noFill/>
        </p:spPr>
        <p:txBody>
          <a:bodyPr wrap="square" lIns="0" tIns="0" rIns="0" bIns="0" anchor="t">
            <a:spAutoFit/>
          </a:bodyPr>
          <a:lstStyle/>
          <a:p>
            <a:pPr algn="l">
              <a:lnSpc>
                <a:spcPct val="112000"/>
              </a:lnSpc>
            </a:pPr>
            <a:r>
              <a:rPr sz="2000" b="1" i="0">
                <a:solidFill>
                  <a:srgbClr val="2E6B78"/>
                </a:solidFill>
                <a:latin typeface="Cambria"/>
              </a:rPr>
              <a:t>3</a:t>
            </a:r>
          </a:p>
        </p:txBody>
      </p:sp>
      <p:sp>
        <p:nvSpPr>
          <p:cNvPr id="20" name="TextBox 19"/>
          <p:cNvSpPr txBox="1"/>
          <p:nvPr/>
        </p:nvSpPr>
        <p:spPr>
          <a:xfrm>
            <a:off x="6370167" y="2404872"/>
            <a:ext cx="2243251" cy="411480"/>
          </a:xfrm>
          <a:prstGeom prst="rect">
            <a:avLst/>
          </a:prstGeom>
          <a:noFill/>
        </p:spPr>
        <p:txBody>
          <a:bodyPr wrap="square" lIns="0" tIns="0" rIns="0" bIns="0" anchor="t">
            <a:spAutoFit/>
          </a:bodyPr>
          <a:lstStyle/>
          <a:p>
            <a:pPr algn="l">
              <a:lnSpc>
                <a:spcPct val="105000"/>
              </a:lnSpc>
            </a:pPr>
            <a:r>
              <a:rPr sz="1350" b="1" i="0">
                <a:solidFill>
                  <a:srgbClr val="141F28"/>
                </a:solidFill>
                <a:latin typeface="Cambria"/>
              </a:rPr>
              <a:t>Construct and validate</a:t>
            </a:r>
          </a:p>
        </p:txBody>
      </p:sp>
      <p:sp>
        <p:nvSpPr>
          <p:cNvPr id="21" name="TextBox 20"/>
          <p:cNvSpPr txBox="1"/>
          <p:nvPr/>
        </p:nvSpPr>
        <p:spPr>
          <a:xfrm>
            <a:off x="6269583" y="2999232"/>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Leakage gate</a:t>
            </a:r>
          </a:p>
        </p:txBody>
      </p:sp>
      <p:sp>
        <p:nvSpPr>
          <p:cNvPr id="22" name="TextBox 21"/>
          <p:cNvSpPr txBox="1"/>
          <p:nvPr/>
        </p:nvSpPr>
        <p:spPr>
          <a:xfrm>
            <a:off x="6269583" y="3328415"/>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ML modelling</a:t>
            </a:r>
          </a:p>
        </p:txBody>
      </p:sp>
      <p:sp>
        <p:nvSpPr>
          <p:cNvPr id="23" name="TextBox 22"/>
          <p:cNvSpPr txBox="1"/>
          <p:nvPr/>
        </p:nvSpPr>
        <p:spPr>
          <a:xfrm>
            <a:off x="6269583" y="3657599"/>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4 LHI candidates</a:t>
            </a:r>
          </a:p>
        </p:txBody>
      </p:sp>
      <p:sp>
        <p:nvSpPr>
          <p:cNvPr id="24" name="TextBox 23"/>
          <p:cNvSpPr txBox="1"/>
          <p:nvPr/>
        </p:nvSpPr>
        <p:spPr>
          <a:xfrm>
            <a:off x="6269583" y="3986783"/>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Robustness grid</a:t>
            </a:r>
          </a:p>
        </p:txBody>
      </p:sp>
      <p:sp>
        <p:nvSpPr>
          <p:cNvPr id="25" name="TextBox 24"/>
          <p:cNvSpPr txBox="1"/>
          <p:nvPr/>
        </p:nvSpPr>
        <p:spPr>
          <a:xfrm>
            <a:off x="8778011" y="2235708"/>
            <a:ext cx="219456" cy="329184"/>
          </a:xfrm>
          <a:prstGeom prst="rect">
            <a:avLst/>
          </a:prstGeom>
          <a:noFill/>
        </p:spPr>
        <p:txBody>
          <a:bodyPr wrap="square" lIns="0" tIns="0" rIns="0" bIns="0" anchor="t">
            <a:spAutoFit/>
          </a:bodyPr>
          <a:lstStyle/>
          <a:p>
            <a:pPr algn="ctr">
              <a:lnSpc>
                <a:spcPct val="112000"/>
              </a:lnSpc>
            </a:pPr>
            <a:r>
              <a:rPr sz="1600" b="1" i="0">
                <a:solidFill>
                  <a:srgbClr val="8B93A0"/>
                </a:solidFill>
                <a:latin typeface="Calibri"/>
              </a:rPr>
              <a:t>&gt;</a:t>
            </a:r>
          </a:p>
        </p:txBody>
      </p:sp>
      <p:sp>
        <p:nvSpPr>
          <p:cNvPr id="26" name="Rounded Rectangle 25"/>
          <p:cNvSpPr/>
          <p:nvPr/>
        </p:nvSpPr>
        <p:spPr>
          <a:xfrm>
            <a:off x="9015755" y="1965960"/>
            <a:ext cx="2535859" cy="86868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62059" y="2057400"/>
            <a:ext cx="457200" cy="365760"/>
          </a:xfrm>
          <a:prstGeom prst="rect">
            <a:avLst/>
          </a:prstGeom>
          <a:noFill/>
        </p:spPr>
        <p:txBody>
          <a:bodyPr wrap="square" lIns="0" tIns="0" rIns="0" bIns="0" anchor="t">
            <a:spAutoFit/>
          </a:bodyPr>
          <a:lstStyle/>
          <a:p>
            <a:pPr algn="l">
              <a:lnSpc>
                <a:spcPct val="112000"/>
              </a:lnSpc>
            </a:pPr>
            <a:r>
              <a:rPr sz="2000" b="1" i="0">
                <a:solidFill>
                  <a:srgbClr val="2E6B78"/>
                </a:solidFill>
                <a:latin typeface="Cambria"/>
              </a:rPr>
              <a:t>4</a:t>
            </a:r>
          </a:p>
        </p:txBody>
      </p:sp>
      <p:sp>
        <p:nvSpPr>
          <p:cNvPr id="28" name="TextBox 27"/>
          <p:cNvSpPr txBox="1"/>
          <p:nvPr/>
        </p:nvSpPr>
        <p:spPr>
          <a:xfrm>
            <a:off x="9162059" y="2404872"/>
            <a:ext cx="2243251" cy="411480"/>
          </a:xfrm>
          <a:prstGeom prst="rect">
            <a:avLst/>
          </a:prstGeom>
          <a:noFill/>
        </p:spPr>
        <p:txBody>
          <a:bodyPr wrap="square" lIns="0" tIns="0" rIns="0" bIns="0" anchor="t">
            <a:spAutoFit/>
          </a:bodyPr>
          <a:lstStyle/>
          <a:p>
            <a:pPr algn="l">
              <a:lnSpc>
                <a:spcPct val="105000"/>
              </a:lnSpc>
            </a:pPr>
            <a:r>
              <a:rPr sz="1350" b="1" i="0">
                <a:solidFill>
                  <a:srgbClr val="141F28"/>
                </a:solidFill>
                <a:latin typeface="Cambria"/>
              </a:rPr>
              <a:t>Operationalise</a:t>
            </a:r>
          </a:p>
        </p:txBody>
      </p:sp>
      <p:sp>
        <p:nvSpPr>
          <p:cNvPr id="29" name="TextBox 28"/>
          <p:cNvSpPr txBox="1"/>
          <p:nvPr/>
        </p:nvSpPr>
        <p:spPr>
          <a:xfrm>
            <a:off x="9061475" y="2999232"/>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Explainability</a:t>
            </a:r>
          </a:p>
        </p:txBody>
      </p:sp>
      <p:sp>
        <p:nvSpPr>
          <p:cNvPr id="30" name="TextBox 29"/>
          <p:cNvSpPr txBox="1"/>
          <p:nvPr/>
        </p:nvSpPr>
        <p:spPr>
          <a:xfrm>
            <a:off x="9061475" y="3328415"/>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Confidence / fallback</a:t>
            </a:r>
          </a:p>
        </p:txBody>
      </p:sp>
      <p:sp>
        <p:nvSpPr>
          <p:cNvPr id="31" name="TextBox 30"/>
          <p:cNvSpPr txBox="1"/>
          <p:nvPr/>
        </p:nvSpPr>
        <p:spPr>
          <a:xfrm>
            <a:off x="9061475" y="3657599"/>
            <a:ext cx="2444419" cy="292608"/>
          </a:xfrm>
          <a:prstGeom prst="rect">
            <a:avLst/>
          </a:prstGeom>
          <a:noFill/>
        </p:spPr>
        <p:txBody>
          <a:bodyPr wrap="square" lIns="0" tIns="0" rIns="0" bIns="0" anchor="t">
            <a:spAutoFit/>
          </a:bodyPr>
          <a:lstStyle/>
          <a:p>
            <a:pPr algn="l">
              <a:lnSpc>
                <a:spcPct val="112000"/>
              </a:lnSpc>
            </a:pPr>
            <a:r>
              <a:rPr sz="1150" b="0" i="0">
                <a:solidFill>
                  <a:srgbClr val="57626D"/>
                </a:solidFill>
                <a:latin typeface="Calibri"/>
              </a:rPr>
              <a:t>-  Final export</a:t>
            </a:r>
          </a:p>
        </p:txBody>
      </p:sp>
      <p:sp>
        <p:nvSpPr>
          <p:cNvPr id="32" name="TextBox 31"/>
          <p:cNvSpPr txBox="1"/>
          <p:nvPr/>
        </p:nvSpPr>
        <p:spPr>
          <a:xfrm>
            <a:off x="640080" y="5349240"/>
            <a:ext cx="10911535" cy="685800"/>
          </a:xfrm>
          <a:prstGeom prst="rect">
            <a:avLst/>
          </a:prstGeom>
          <a:noFill/>
        </p:spPr>
        <p:txBody>
          <a:bodyPr wrap="square" lIns="0" tIns="0" rIns="0" bIns="0" anchor="t">
            <a:spAutoFit/>
          </a:bodyPr>
          <a:lstStyle/>
          <a:p>
            <a:pPr algn="l">
              <a:lnSpc>
                <a:spcPct val="125000"/>
              </a:lnSpc>
            </a:pPr>
            <a:r>
              <a:rPr sz="1450" b="0" i="0">
                <a:solidFill>
                  <a:srgbClr val="57626D"/>
                </a:solidFill>
                <a:latin typeface="Calibri"/>
              </a:rPr>
              <a:t>Fail loudly, not silently -- a misleading 96.9%-accurate model was caught at the leakage gate (Slide 05) before it could shape the index.</a:t>
            </a:r>
          </a:p>
        </p:txBody>
      </p:sp>
      <p:sp>
        <p:nvSpPr>
          <p:cNvPr id="33" name="TextBox 32"/>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QSR_LHI_Technical_Report_Agency5_v5.pdf, Section 03 (Analytical Design). Thirteen independently re-runnable stages, grouped here into four phases.</a:t>
            </a:r>
          </a:p>
        </p:txBody>
      </p:sp>
      <p:sp>
        <p:nvSpPr>
          <p:cNvPr id="34" name="TextBox 33"/>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03</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EDA AND PORTFOLIO UNDERSTANDING  -  03</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500" b="1" i="0">
                <a:solidFill>
                  <a:srgbClr val="141F28"/>
                </a:solidFill>
                <a:latin typeface="Cambria"/>
              </a:rPr>
              <a:t>Nearly every location is benchmarked against a real, local peer set</a:t>
            </a:r>
          </a:p>
        </p:txBody>
      </p:sp>
      <p:pic>
        <p:nvPicPr>
          <p:cNvPr id="4" name="Picture 3" descr="fig_02_peer_group_size_final.png"/>
          <p:cNvPicPr>
            <a:picLocks noChangeAspect="1"/>
          </p:cNvPicPr>
          <p:nvPr/>
        </p:nvPicPr>
        <p:blipFill>
          <a:blip r:embed="rId3"/>
          <a:stretch>
            <a:fillRect/>
          </a:stretch>
        </p:blipFill>
        <p:spPr>
          <a:xfrm>
            <a:off x="1695489" y="1691640"/>
            <a:ext cx="6836639" cy="3794760"/>
          </a:xfrm>
          <a:prstGeom prst="rect">
            <a:avLst/>
          </a:prstGeom>
        </p:spPr>
      </p:pic>
      <p:sp>
        <p:nvSpPr>
          <p:cNvPr id="5" name="TextBox 4"/>
          <p:cNvSpPr txBox="1"/>
          <p:nvPr/>
        </p:nvSpPr>
        <p:spPr>
          <a:xfrm>
            <a:off x="9805769" y="2057400"/>
            <a:ext cx="1745845" cy="502920"/>
          </a:xfrm>
          <a:prstGeom prst="rect">
            <a:avLst/>
          </a:prstGeom>
          <a:noFill/>
        </p:spPr>
        <p:txBody>
          <a:bodyPr wrap="square" lIns="0" tIns="0" rIns="0" bIns="0" anchor="t">
            <a:spAutoFit/>
          </a:bodyPr>
          <a:lstStyle/>
          <a:p>
            <a:pPr algn="l">
              <a:lnSpc>
                <a:spcPct val="112000"/>
              </a:lnSpc>
            </a:pPr>
            <a:r>
              <a:rPr sz="3200" b="1" i="0">
                <a:solidFill>
                  <a:srgbClr val="2E6B78"/>
                </a:solidFill>
                <a:latin typeface="Cambria"/>
              </a:rPr>
              <a:t>119</a:t>
            </a:r>
          </a:p>
        </p:txBody>
      </p:sp>
      <p:sp>
        <p:nvSpPr>
          <p:cNvPr id="6" name="TextBox 5"/>
          <p:cNvSpPr txBox="1"/>
          <p:nvPr/>
        </p:nvSpPr>
        <p:spPr>
          <a:xfrm>
            <a:off x="9805769" y="2587752"/>
            <a:ext cx="1745845" cy="685800"/>
          </a:xfrm>
          <a:prstGeom prst="rect">
            <a:avLst/>
          </a:prstGeom>
          <a:noFill/>
        </p:spPr>
        <p:txBody>
          <a:bodyPr wrap="square" lIns="0" tIns="0" rIns="0" bIns="0" anchor="t">
            <a:spAutoFit/>
          </a:bodyPr>
          <a:lstStyle/>
          <a:p>
            <a:pPr algn="l">
              <a:lnSpc>
                <a:spcPct val="115000"/>
              </a:lnSpc>
            </a:pPr>
            <a:r>
              <a:rPr sz="1150" b="0" i="0">
                <a:solidFill>
                  <a:srgbClr val="57626D"/>
                </a:solidFill>
                <a:latin typeface="Calibri"/>
              </a:rPr>
              <a:t>median peer group size</a:t>
            </a:r>
          </a:p>
        </p:txBody>
      </p:sp>
      <p:sp>
        <p:nvSpPr>
          <p:cNvPr id="7" name="TextBox 6"/>
          <p:cNvSpPr txBox="1"/>
          <p:nvPr/>
        </p:nvSpPr>
        <p:spPr>
          <a:xfrm>
            <a:off x="9805769" y="3566160"/>
            <a:ext cx="1745845" cy="502920"/>
          </a:xfrm>
          <a:prstGeom prst="rect">
            <a:avLst/>
          </a:prstGeom>
          <a:noFill/>
        </p:spPr>
        <p:txBody>
          <a:bodyPr wrap="square" lIns="0" tIns="0" rIns="0" bIns="0" anchor="t">
            <a:spAutoFit/>
          </a:bodyPr>
          <a:lstStyle/>
          <a:p>
            <a:pPr algn="l">
              <a:lnSpc>
                <a:spcPct val="112000"/>
              </a:lnSpc>
            </a:pPr>
            <a:r>
              <a:rPr sz="3200" b="1" i="0">
                <a:solidFill>
                  <a:srgbClr val="2E6B78"/>
                </a:solidFill>
                <a:latin typeface="Cambria"/>
              </a:rPr>
              <a:t>315</a:t>
            </a:r>
          </a:p>
        </p:txBody>
      </p:sp>
      <p:sp>
        <p:nvSpPr>
          <p:cNvPr id="8" name="TextBox 7"/>
          <p:cNvSpPr txBox="1"/>
          <p:nvPr/>
        </p:nvSpPr>
        <p:spPr>
          <a:xfrm>
            <a:off x="9805769" y="4096511"/>
            <a:ext cx="1745845" cy="685800"/>
          </a:xfrm>
          <a:prstGeom prst="rect">
            <a:avLst/>
          </a:prstGeom>
          <a:noFill/>
        </p:spPr>
        <p:txBody>
          <a:bodyPr wrap="square" lIns="0" tIns="0" rIns="0" bIns="0" anchor="t">
            <a:spAutoFit/>
          </a:bodyPr>
          <a:lstStyle/>
          <a:p>
            <a:pPr algn="l">
              <a:lnSpc>
                <a:spcPct val="115000"/>
              </a:lnSpc>
            </a:pPr>
            <a:r>
              <a:rPr sz="1150" b="0" i="0">
                <a:solidFill>
                  <a:srgbClr val="57626D"/>
                </a:solidFill>
                <a:latin typeface="Calibri"/>
              </a:rPr>
              <a:t>locations with fewer than 10 peers</a:t>
            </a:r>
          </a:p>
        </p:txBody>
      </p:sp>
      <p:sp>
        <p:nvSpPr>
          <p:cNvPr id="9" name="TextBox 8"/>
          <p:cNvSpPr txBox="1"/>
          <p:nvPr/>
        </p:nvSpPr>
        <p:spPr>
          <a:xfrm>
            <a:off x="640080" y="5623560"/>
            <a:ext cx="10911535" cy="502920"/>
          </a:xfrm>
          <a:prstGeom prst="rect">
            <a:avLst/>
          </a:prstGeom>
          <a:noFill/>
        </p:spPr>
        <p:txBody>
          <a:bodyPr wrap="square" lIns="0" tIns="0" rIns="0" bIns="0" anchor="t">
            <a:spAutoFit/>
          </a:bodyPr>
          <a:lstStyle/>
          <a:p>
            <a:pPr algn="l">
              <a:lnSpc>
                <a:spcPct val="120000"/>
              </a:lnSpc>
            </a:pPr>
            <a:r>
              <a:rPr sz="1350" b="0" i="0">
                <a:solidFill>
                  <a:srgbClr val="57626D"/>
                </a:solidFill>
                <a:latin typeface="Calibri"/>
              </a:rPr>
              <a:t>A thin peer group means a noisier benchmark -- peer-tier quality feeds directly into each location's confidence score, so a weak comparison is disclosed, not hidden.</a:t>
            </a:r>
          </a:p>
        </p:txBody>
      </p:sp>
      <p:sp>
        <p:nvSpPr>
          <p:cNvPr id="10" name="TextBox 9"/>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QSR_PEER_GROUPS.csv, analysis/output/. n = 19,154 businesses (all classified locations, open and closed).</a:t>
            </a:r>
          </a:p>
        </p:txBody>
      </p:sp>
      <p:sp>
        <p:nvSpPr>
          <p:cNvPr id="11" name="TextBox 10"/>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04</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WHY MODELLING WAS NECESSARY  -  04</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100" b="1" i="0">
                <a:solidFill>
                  <a:srgbClr val="141F28"/>
                </a:solidFill>
                <a:latin typeface="Cambria"/>
              </a:rPr>
              <a:t>Leakage inflated model performance; the corrected model provides a more credible signal</a:t>
            </a:r>
          </a:p>
        </p:txBody>
      </p:sp>
      <p:pic>
        <p:nvPicPr>
          <p:cNvPr id="4" name="Picture 3" descr="fig_p2_model_comparison_best_final.png"/>
          <p:cNvPicPr>
            <a:picLocks noChangeAspect="1"/>
          </p:cNvPicPr>
          <p:nvPr/>
        </p:nvPicPr>
        <p:blipFill>
          <a:blip r:embed="rId3"/>
          <a:stretch>
            <a:fillRect/>
          </a:stretch>
        </p:blipFill>
        <p:spPr>
          <a:xfrm>
            <a:off x="640080" y="1920240"/>
            <a:ext cx="6546921" cy="3474751"/>
          </a:xfrm>
          <a:prstGeom prst="rect">
            <a:avLst/>
          </a:prstGeom>
        </p:spPr>
      </p:pic>
      <p:sp>
        <p:nvSpPr>
          <p:cNvPr id="5" name="TextBox 4"/>
          <p:cNvSpPr txBox="1"/>
          <p:nvPr/>
        </p:nvSpPr>
        <p:spPr>
          <a:xfrm>
            <a:off x="7552761" y="1920240"/>
            <a:ext cx="3998854" cy="502920"/>
          </a:xfrm>
          <a:prstGeom prst="rect">
            <a:avLst/>
          </a:prstGeom>
          <a:noFill/>
        </p:spPr>
        <p:txBody>
          <a:bodyPr wrap="square" lIns="0" tIns="0" rIns="0" bIns="0" anchor="t">
            <a:spAutoFit/>
          </a:bodyPr>
          <a:lstStyle/>
          <a:p>
            <a:pPr algn="l">
              <a:lnSpc>
                <a:spcPct val="115000"/>
              </a:lnSpc>
            </a:pPr>
            <a:r>
              <a:rPr sz="1200" b="0" i="1">
                <a:solidFill>
                  <a:srgbClr val="8B93A0"/>
                </a:solidFill>
                <a:latin typeface="Calibri"/>
              </a:rPr>
              <a:t>Supporting evidence -- what the corrected model actually finds</a:t>
            </a:r>
          </a:p>
        </p:txBody>
      </p:sp>
      <p:pic>
        <p:nvPicPr>
          <p:cNvPr id="6" name="Picture 5" descr="fig_p3_shap_top_drivers_final.png"/>
          <p:cNvPicPr>
            <a:picLocks noChangeAspect="1"/>
          </p:cNvPicPr>
          <p:nvPr/>
        </p:nvPicPr>
        <p:blipFill>
          <a:blip r:embed="rId4"/>
          <a:stretch>
            <a:fillRect/>
          </a:stretch>
        </p:blipFill>
        <p:spPr>
          <a:xfrm>
            <a:off x="7552761" y="2468880"/>
            <a:ext cx="3998854" cy="2076805"/>
          </a:xfrm>
          <a:prstGeom prst="rect">
            <a:avLst/>
          </a:prstGeom>
        </p:spPr>
      </p:pic>
      <p:sp>
        <p:nvSpPr>
          <p:cNvPr id="7" name="TextBox 6"/>
          <p:cNvSpPr txBox="1"/>
          <p:nvPr/>
        </p:nvSpPr>
        <p:spPr>
          <a:xfrm>
            <a:off x="640080" y="5879592"/>
            <a:ext cx="10911535" cy="502920"/>
          </a:xfrm>
          <a:prstGeom prst="rect">
            <a:avLst/>
          </a:prstGeom>
          <a:noFill/>
        </p:spPr>
        <p:txBody>
          <a:bodyPr wrap="square" lIns="0" tIns="0" rIns="0" bIns="0" anchor="t">
            <a:spAutoFit/>
          </a:bodyPr>
          <a:lstStyle/>
          <a:p>
            <a:pPr algn="l">
              <a:lnSpc>
                <a:spcPct val="120000"/>
              </a:lnSpc>
            </a:pPr>
            <a:r>
              <a:rPr sz="1400" b="1" i="0">
                <a:solidFill>
                  <a:srgbClr val="141F28"/>
                </a:solidFill>
                <a:latin typeface="Cambria"/>
              </a:rPr>
              <a:t>Every number in this deck is checked against this standard -- evidence first, nothing assumed correct because it was the obvious first guess.</a:t>
            </a:r>
          </a:p>
        </p:txBody>
      </p:sp>
      <p:sp>
        <p:nvSpPr>
          <p:cNvPr id="8" name="TextBox 7"/>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QSR_MODEL_RESULTS.csv, QSR_ML_FEATURE_IMPORTANCE.csv, analysis/output/. n = 3,831 test-set holdout.</a:t>
            </a:r>
          </a:p>
        </p:txBody>
      </p:sp>
      <p:sp>
        <p:nvSpPr>
          <p:cNvPr id="9" name="TextBox 8"/>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05</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CUSTOMER-EXPERIENCE INSIGHTS  -  05</a:t>
            </a:r>
          </a:p>
        </p:txBody>
      </p:sp>
      <p:pic>
        <p:nvPicPr>
          <p:cNvPr id="3" name="Picture 2" descr="fig_05_aspect_sentiment_risk_share_final.png"/>
          <p:cNvPicPr>
            <a:picLocks noChangeAspect="1"/>
          </p:cNvPicPr>
          <p:nvPr/>
        </p:nvPicPr>
        <p:blipFill>
          <a:blip r:embed="rId3"/>
          <a:stretch>
            <a:fillRect/>
          </a:stretch>
        </p:blipFill>
        <p:spPr>
          <a:xfrm>
            <a:off x="2463040" y="1600200"/>
            <a:ext cx="7265613" cy="4160520"/>
          </a:xfrm>
          <a:prstGeom prst="rect">
            <a:avLst/>
          </a:prstGeom>
        </p:spPr>
      </p:pic>
      <p:sp>
        <p:nvSpPr>
          <p:cNvPr id="4" name="TextBox 3"/>
          <p:cNvSpPr txBox="1"/>
          <p:nvPr/>
        </p:nvSpPr>
        <p:spPr>
          <a:xfrm>
            <a:off x="640080" y="5897880"/>
            <a:ext cx="10911535" cy="640080"/>
          </a:xfrm>
          <a:prstGeom prst="rect">
            <a:avLst/>
          </a:prstGeom>
          <a:noFill/>
        </p:spPr>
        <p:txBody>
          <a:bodyPr wrap="square" lIns="0" tIns="0" rIns="0" bIns="0" anchor="t">
            <a:spAutoFit/>
          </a:bodyPr>
          <a:lstStyle/>
          <a:p>
            <a:pPr algn="l">
              <a:lnSpc>
                <a:spcPct val="125000"/>
              </a:lnSpc>
            </a:pPr>
            <a:r>
              <a:rPr sz="1350" b="0" i="0">
                <a:solidFill>
                  <a:srgbClr val="57626D"/>
                </a:solidFill>
                <a:latin typeface="Calibri"/>
              </a:rPr>
              <a:t>Bars rank sentiment; diamonds mark which aspects actually predict High or Critical Risk -- the two do not point to the same aspect.</a:t>
            </a:r>
          </a:p>
        </p:txBody>
      </p:sp>
      <p:sp>
        <p:nvSpPr>
          <p:cNvPr id="5" name="TextBox 4"/>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dashboard/data/meta.json (aspectSummary). n = 13,719 open locations.</a:t>
            </a:r>
          </a:p>
        </p:txBody>
      </p:sp>
      <p:sp>
        <p:nvSpPr>
          <p:cNvPr id="6" name="TextBox 5"/>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06</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MEET TWO REAL LOCATIONS  -  06</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100" b="1" i="0">
                <a:solidFill>
                  <a:srgbClr val="141F28"/>
                </a:solidFill>
                <a:latin typeface="Cambria"/>
              </a:rPr>
              <a:t>The same four pillars, two very different stories</a:t>
            </a:r>
          </a:p>
        </p:txBody>
      </p:sp>
      <p:sp>
        <p:nvSpPr>
          <p:cNvPr id="4" name="Rounded Rectangle 3"/>
          <p:cNvSpPr/>
          <p:nvPr/>
        </p:nvSpPr>
        <p:spPr>
          <a:xfrm>
            <a:off x="640080" y="1691640"/>
            <a:ext cx="5272887" cy="4114800"/>
          </a:xfrm>
          <a:prstGeom prst="roundRect">
            <a:avLst/>
          </a:prstGeom>
          <a:solidFill>
            <a:srgbClr val="F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96112" y="1874520"/>
            <a:ext cx="1371600" cy="274320"/>
          </a:xfrm>
          <a:prstGeom prst="roundRect">
            <a:avLst/>
          </a:prstGeom>
          <a:solidFill>
            <a:srgbClr val="C16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874520"/>
            <a:ext cx="1371600" cy="274320"/>
          </a:xfrm>
          <a:prstGeom prst="rect">
            <a:avLst/>
          </a:prstGeom>
          <a:noFill/>
        </p:spPr>
        <p:txBody>
          <a:bodyPr wrap="square" lIns="0" tIns="0" rIns="0" bIns="0" anchor="ctr">
            <a:spAutoFit/>
          </a:bodyPr>
          <a:lstStyle/>
          <a:p>
            <a:pPr algn="ctr">
              <a:lnSpc>
                <a:spcPct val="112000"/>
              </a:lnSpc>
            </a:pPr>
            <a:r>
              <a:rPr sz="1050" b="1" i="0">
                <a:solidFill>
                  <a:srgbClr val="FFFFFF"/>
                </a:solidFill>
                <a:latin typeface="Calibri"/>
              </a:rPr>
              <a:t>STRUGGLING</a:t>
            </a:r>
          </a:p>
        </p:txBody>
      </p:sp>
      <p:sp>
        <p:nvSpPr>
          <p:cNvPr id="7" name="TextBox 6"/>
          <p:cNvSpPr txBox="1"/>
          <p:nvPr/>
        </p:nvSpPr>
        <p:spPr>
          <a:xfrm>
            <a:off x="896112" y="2295144"/>
            <a:ext cx="4760823" cy="329184"/>
          </a:xfrm>
          <a:prstGeom prst="rect">
            <a:avLst/>
          </a:prstGeom>
          <a:noFill/>
        </p:spPr>
        <p:txBody>
          <a:bodyPr wrap="square" lIns="0" tIns="0" rIns="0" bIns="0" anchor="t">
            <a:spAutoFit/>
          </a:bodyPr>
          <a:lstStyle/>
          <a:p>
            <a:pPr algn="l">
              <a:lnSpc>
                <a:spcPct val="112000"/>
              </a:lnSpc>
            </a:pPr>
            <a:r>
              <a:rPr sz="1700" b="1" i="0">
                <a:solidFill>
                  <a:srgbClr val="141F28"/>
                </a:solidFill>
                <a:latin typeface="Cambria"/>
              </a:rPr>
              <a:t>Bryn and Dane's</a:t>
            </a:r>
          </a:p>
        </p:txBody>
      </p:sp>
      <p:sp>
        <p:nvSpPr>
          <p:cNvPr id="8" name="TextBox 7"/>
          <p:cNvSpPr txBox="1"/>
          <p:nvPr/>
        </p:nvSpPr>
        <p:spPr>
          <a:xfrm>
            <a:off x="896112" y="2624328"/>
            <a:ext cx="4760823" cy="256032"/>
          </a:xfrm>
          <a:prstGeom prst="rect">
            <a:avLst/>
          </a:prstGeom>
          <a:noFill/>
        </p:spPr>
        <p:txBody>
          <a:bodyPr wrap="square" lIns="0" tIns="0" rIns="0" bIns="0" anchor="t">
            <a:spAutoFit/>
          </a:bodyPr>
          <a:lstStyle/>
          <a:p>
            <a:pPr algn="l">
              <a:lnSpc>
                <a:spcPct val="112000"/>
              </a:lnSpc>
            </a:pPr>
            <a:r>
              <a:rPr sz="1100" b="0" i="0">
                <a:solidFill>
                  <a:srgbClr val="8B93A0"/>
                </a:solidFill>
                <a:latin typeface="Calibri"/>
              </a:rPr>
              <a:t>Horsham, PA  ·  17 local/state peers</a:t>
            </a:r>
          </a:p>
        </p:txBody>
      </p:sp>
      <p:sp>
        <p:nvSpPr>
          <p:cNvPr id="9" name="TextBox 8"/>
          <p:cNvSpPr txBox="1"/>
          <p:nvPr/>
        </p:nvSpPr>
        <p:spPr>
          <a:xfrm>
            <a:off x="896112" y="2990088"/>
            <a:ext cx="1188720" cy="502920"/>
          </a:xfrm>
          <a:prstGeom prst="rect">
            <a:avLst/>
          </a:prstGeom>
          <a:noFill/>
        </p:spPr>
        <p:txBody>
          <a:bodyPr wrap="square" lIns="0" tIns="0" rIns="0" bIns="0" anchor="t">
            <a:spAutoFit/>
          </a:bodyPr>
          <a:lstStyle/>
          <a:p>
            <a:pPr algn="l">
              <a:lnSpc>
                <a:spcPct val="112000"/>
              </a:lnSpc>
            </a:pPr>
            <a:r>
              <a:rPr sz="3200" b="1" i="0">
                <a:solidFill>
                  <a:srgbClr val="C1652E"/>
                </a:solidFill>
                <a:latin typeface="Cambria"/>
              </a:rPr>
              <a:t>36.6</a:t>
            </a:r>
          </a:p>
        </p:txBody>
      </p:sp>
      <p:sp>
        <p:nvSpPr>
          <p:cNvPr id="10" name="TextBox 9"/>
          <p:cNvSpPr txBox="1"/>
          <p:nvPr/>
        </p:nvSpPr>
        <p:spPr>
          <a:xfrm>
            <a:off x="2130552" y="3044952"/>
            <a:ext cx="3526383" cy="457200"/>
          </a:xfrm>
          <a:prstGeom prst="rect">
            <a:avLst/>
          </a:prstGeom>
          <a:noFill/>
        </p:spPr>
        <p:txBody>
          <a:bodyPr wrap="square" lIns="0" tIns="0" rIns="0" bIns="0" anchor="t">
            <a:spAutoFit/>
          </a:bodyPr>
          <a:lstStyle/>
          <a:p>
            <a:pPr algn="l">
              <a:lnSpc>
                <a:spcPct val="110000"/>
              </a:lnSpc>
            </a:pPr>
            <a:r>
              <a:rPr sz="1200" b="1" i="0">
                <a:solidFill>
                  <a:srgbClr val="141F28"/>
                </a:solidFill>
                <a:latin typeface="Calibri"/>
              </a:rPr>
              <a:t>High Risk</a:t>
            </a:r>
          </a:p>
          <a:p>
            <a:pPr algn="l">
              <a:lnSpc>
                <a:spcPct val="110000"/>
              </a:lnSpc>
            </a:pPr>
            <a:r>
              <a:rPr sz="1200" b="1" i="0">
                <a:solidFill>
                  <a:srgbClr val="141F28"/>
                </a:solidFill>
                <a:latin typeface="Calibri"/>
              </a:rPr>
              <a:t>Critical priority</a:t>
            </a:r>
          </a:p>
        </p:txBody>
      </p:sp>
      <p:sp>
        <p:nvSpPr>
          <p:cNvPr id="11" name="TextBox 10"/>
          <p:cNvSpPr txBox="1"/>
          <p:nvPr/>
        </p:nvSpPr>
        <p:spPr>
          <a:xfrm>
            <a:off x="896112" y="3557016"/>
            <a:ext cx="4760823" cy="256032"/>
          </a:xfrm>
          <a:prstGeom prst="rect">
            <a:avLst/>
          </a:prstGeom>
          <a:noFill/>
        </p:spPr>
        <p:txBody>
          <a:bodyPr wrap="square" lIns="0" tIns="0" rIns="0" bIns="0" anchor="t">
            <a:spAutoFit/>
          </a:bodyPr>
          <a:lstStyle/>
          <a:p>
            <a:pPr algn="l">
              <a:lnSpc>
                <a:spcPct val="112000"/>
              </a:lnSpc>
            </a:pPr>
            <a:r>
              <a:rPr sz="1200" b="0" i="0">
                <a:solidFill>
                  <a:srgbClr val="57626D"/>
                </a:solidFill>
                <a:latin typeface="Calibri"/>
              </a:rPr>
              <a:t>Deteriorating -2.3  (1.6★ recent vs. 3.9★ prior)</a:t>
            </a:r>
          </a:p>
        </p:txBody>
      </p:sp>
      <p:sp>
        <p:nvSpPr>
          <p:cNvPr id="12" name="TextBox 11"/>
          <p:cNvSpPr txBox="1"/>
          <p:nvPr/>
        </p:nvSpPr>
        <p:spPr>
          <a:xfrm>
            <a:off x="896112" y="3803904"/>
            <a:ext cx="4760823" cy="256032"/>
          </a:xfrm>
          <a:prstGeom prst="rect">
            <a:avLst/>
          </a:prstGeom>
          <a:noFill/>
        </p:spPr>
        <p:txBody>
          <a:bodyPr wrap="square" lIns="0" tIns="0" rIns="0" bIns="0" anchor="t">
            <a:spAutoFit/>
          </a:bodyPr>
          <a:lstStyle/>
          <a:p>
            <a:pPr algn="l">
              <a:lnSpc>
                <a:spcPct val="112000"/>
              </a:lnSpc>
            </a:pPr>
            <a:r>
              <a:rPr sz="1100" b="0" i="0">
                <a:solidFill>
                  <a:srgbClr val="8B93A0"/>
                </a:solidFill>
                <a:latin typeface="Calibri"/>
              </a:rPr>
              <a:t>10.7th percentile vs. peers  ·  -0.62★ vs. peer median</a:t>
            </a:r>
          </a:p>
        </p:txBody>
      </p:sp>
      <p:sp>
        <p:nvSpPr>
          <p:cNvPr id="13" name="TextBox 12"/>
          <p:cNvSpPr txBox="1"/>
          <p:nvPr/>
        </p:nvSpPr>
        <p:spPr>
          <a:xfrm>
            <a:off x="896112" y="4151376"/>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Peer</a:t>
            </a:r>
          </a:p>
        </p:txBody>
      </p:sp>
      <p:sp>
        <p:nvSpPr>
          <p:cNvPr id="14" name="Rectangle 13"/>
          <p:cNvSpPr/>
          <p:nvPr/>
        </p:nvSpPr>
        <p:spPr>
          <a:xfrm>
            <a:off x="2130552" y="4178808"/>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130552" y="4178808"/>
            <a:ext cx="668700" cy="137160"/>
          </a:xfrm>
          <a:prstGeom prst="rect">
            <a:avLst/>
          </a:prstGeom>
          <a:solidFill>
            <a:srgbClr val="C16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47207" y="4123944"/>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20</a:t>
            </a:r>
          </a:p>
        </p:txBody>
      </p:sp>
      <p:sp>
        <p:nvSpPr>
          <p:cNvPr id="17" name="TextBox 16"/>
          <p:cNvSpPr txBox="1"/>
          <p:nvPr/>
        </p:nvSpPr>
        <p:spPr>
          <a:xfrm>
            <a:off x="896112" y="4416552"/>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Engagement</a:t>
            </a:r>
          </a:p>
        </p:txBody>
      </p:sp>
      <p:sp>
        <p:nvSpPr>
          <p:cNvPr id="18" name="Rectangle 17"/>
          <p:cNvSpPr/>
          <p:nvPr/>
        </p:nvSpPr>
        <p:spPr>
          <a:xfrm>
            <a:off x="2130552" y="4443984"/>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130552" y="4443984"/>
            <a:ext cx="2541062" cy="137160"/>
          </a:xfrm>
          <a:prstGeom prst="rect">
            <a:avLst/>
          </a:prstGeom>
          <a:solidFill>
            <a:srgbClr val="C16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47207" y="4389120"/>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76</a:t>
            </a:r>
          </a:p>
        </p:txBody>
      </p:sp>
      <p:sp>
        <p:nvSpPr>
          <p:cNvPr id="21" name="TextBox 20"/>
          <p:cNvSpPr txBox="1"/>
          <p:nvPr/>
        </p:nvSpPr>
        <p:spPr>
          <a:xfrm>
            <a:off x="896112" y="4681728"/>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Momentum</a:t>
            </a:r>
          </a:p>
        </p:txBody>
      </p:sp>
      <p:sp>
        <p:nvSpPr>
          <p:cNvPr id="22" name="Rectangle 21"/>
          <p:cNvSpPr/>
          <p:nvPr/>
        </p:nvSpPr>
        <p:spPr>
          <a:xfrm>
            <a:off x="2130552" y="4709160"/>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130552" y="4709160"/>
            <a:ext cx="133740" cy="137160"/>
          </a:xfrm>
          <a:prstGeom prst="rect">
            <a:avLst/>
          </a:prstGeom>
          <a:solidFill>
            <a:srgbClr val="C16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47207" y="4654296"/>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4</a:t>
            </a:r>
          </a:p>
        </p:txBody>
      </p:sp>
      <p:sp>
        <p:nvSpPr>
          <p:cNvPr id="25" name="TextBox 24"/>
          <p:cNvSpPr txBox="1"/>
          <p:nvPr/>
        </p:nvSpPr>
        <p:spPr>
          <a:xfrm>
            <a:off x="896112" y="4946904"/>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Cust. Exp.</a:t>
            </a:r>
          </a:p>
        </p:txBody>
      </p:sp>
      <p:sp>
        <p:nvSpPr>
          <p:cNvPr id="26" name="Rectangle 25"/>
          <p:cNvSpPr/>
          <p:nvPr/>
        </p:nvSpPr>
        <p:spPr>
          <a:xfrm>
            <a:off x="2130552" y="4974336"/>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130552" y="4974336"/>
            <a:ext cx="1303966" cy="137160"/>
          </a:xfrm>
          <a:prstGeom prst="rect">
            <a:avLst/>
          </a:prstGeom>
          <a:solidFill>
            <a:srgbClr val="C16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47207" y="4919472"/>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39</a:t>
            </a:r>
          </a:p>
        </p:txBody>
      </p:sp>
      <p:sp>
        <p:nvSpPr>
          <p:cNvPr id="29" name="TextBox 28"/>
          <p:cNvSpPr txBox="1"/>
          <p:nvPr/>
        </p:nvSpPr>
        <p:spPr>
          <a:xfrm>
            <a:off x="896112" y="5266944"/>
            <a:ext cx="4760823" cy="502920"/>
          </a:xfrm>
          <a:prstGeom prst="rect">
            <a:avLst/>
          </a:prstGeom>
          <a:noFill/>
        </p:spPr>
        <p:txBody>
          <a:bodyPr wrap="square" lIns="0" tIns="0" rIns="0" bIns="0" anchor="t">
            <a:spAutoFit/>
          </a:bodyPr>
          <a:lstStyle/>
          <a:p>
            <a:pPr algn="l">
              <a:lnSpc>
                <a:spcPct val="120000"/>
              </a:lnSpc>
            </a:pPr>
            <a:r>
              <a:rPr sz="1050" b="0" i="1">
                <a:solidFill>
                  <a:srgbClr val="57626D"/>
                </a:solidFill>
                <a:latin typeface="Calibri"/>
              </a:rPr>
              <a:t>Strong engagement (76) wasn't enough on its own -- peer standing and momentum both collapsed.</a:t>
            </a:r>
          </a:p>
        </p:txBody>
      </p:sp>
      <p:sp>
        <p:nvSpPr>
          <p:cNvPr id="30" name="Rounded Rectangle 29"/>
          <p:cNvSpPr/>
          <p:nvPr/>
        </p:nvSpPr>
        <p:spPr>
          <a:xfrm>
            <a:off x="6278727" y="1691640"/>
            <a:ext cx="5272887" cy="4114800"/>
          </a:xfrm>
          <a:prstGeom prst="roundRect">
            <a:avLst/>
          </a:prstGeom>
          <a:solidFill>
            <a:srgbClr val="F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34759" y="1874520"/>
            <a:ext cx="1371600" cy="274320"/>
          </a:xfrm>
          <a:prstGeom prst="round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34759" y="1874520"/>
            <a:ext cx="1371600" cy="274320"/>
          </a:xfrm>
          <a:prstGeom prst="rect">
            <a:avLst/>
          </a:prstGeom>
          <a:noFill/>
        </p:spPr>
        <p:txBody>
          <a:bodyPr wrap="square" lIns="0" tIns="0" rIns="0" bIns="0" anchor="ctr">
            <a:spAutoFit/>
          </a:bodyPr>
          <a:lstStyle/>
          <a:p>
            <a:pPr algn="ctr">
              <a:lnSpc>
                <a:spcPct val="112000"/>
              </a:lnSpc>
            </a:pPr>
            <a:r>
              <a:rPr sz="1050" b="1" i="0">
                <a:solidFill>
                  <a:srgbClr val="FFFFFF"/>
                </a:solidFill>
                <a:latin typeface="Calibri"/>
              </a:rPr>
              <a:t>HEALTHY</a:t>
            </a:r>
          </a:p>
        </p:txBody>
      </p:sp>
      <p:sp>
        <p:nvSpPr>
          <p:cNvPr id="33" name="TextBox 32"/>
          <p:cNvSpPr txBox="1"/>
          <p:nvPr/>
        </p:nvSpPr>
        <p:spPr>
          <a:xfrm>
            <a:off x="6534759" y="2295144"/>
            <a:ext cx="4760823" cy="329184"/>
          </a:xfrm>
          <a:prstGeom prst="rect">
            <a:avLst/>
          </a:prstGeom>
          <a:noFill/>
        </p:spPr>
        <p:txBody>
          <a:bodyPr wrap="square" lIns="0" tIns="0" rIns="0" bIns="0" anchor="t">
            <a:spAutoFit/>
          </a:bodyPr>
          <a:lstStyle/>
          <a:p>
            <a:pPr algn="l">
              <a:lnSpc>
                <a:spcPct val="112000"/>
              </a:lnSpc>
            </a:pPr>
            <a:r>
              <a:rPr sz="1700" b="1" i="0">
                <a:solidFill>
                  <a:srgbClr val="141F28"/>
                </a:solidFill>
                <a:latin typeface="Cambria"/>
              </a:rPr>
              <a:t>In-N-Out Burger</a:t>
            </a:r>
          </a:p>
        </p:txBody>
      </p:sp>
      <p:sp>
        <p:nvSpPr>
          <p:cNvPr id="34" name="TextBox 33"/>
          <p:cNvSpPr txBox="1"/>
          <p:nvPr/>
        </p:nvSpPr>
        <p:spPr>
          <a:xfrm>
            <a:off x="6534759" y="2624328"/>
            <a:ext cx="4760823" cy="256032"/>
          </a:xfrm>
          <a:prstGeom prst="rect">
            <a:avLst/>
          </a:prstGeom>
          <a:noFill/>
        </p:spPr>
        <p:txBody>
          <a:bodyPr wrap="square" lIns="0" tIns="0" rIns="0" bIns="0" anchor="t">
            <a:spAutoFit/>
          </a:bodyPr>
          <a:lstStyle/>
          <a:p>
            <a:pPr algn="l">
              <a:lnSpc>
                <a:spcPct val="112000"/>
              </a:lnSpc>
            </a:pPr>
            <a:r>
              <a:rPr sz="1100" b="0" i="0">
                <a:solidFill>
                  <a:srgbClr val="8B93A0"/>
                </a:solidFill>
                <a:latin typeface="Calibri"/>
              </a:rPr>
              <a:t>Tucson, AZ  ·  173 local peers</a:t>
            </a:r>
          </a:p>
        </p:txBody>
      </p:sp>
      <p:sp>
        <p:nvSpPr>
          <p:cNvPr id="35" name="TextBox 34"/>
          <p:cNvSpPr txBox="1"/>
          <p:nvPr/>
        </p:nvSpPr>
        <p:spPr>
          <a:xfrm>
            <a:off x="6534759" y="2990088"/>
            <a:ext cx="1188720" cy="502920"/>
          </a:xfrm>
          <a:prstGeom prst="rect">
            <a:avLst/>
          </a:prstGeom>
          <a:noFill/>
        </p:spPr>
        <p:txBody>
          <a:bodyPr wrap="square" lIns="0" tIns="0" rIns="0" bIns="0" anchor="t">
            <a:spAutoFit/>
          </a:bodyPr>
          <a:lstStyle/>
          <a:p>
            <a:pPr algn="l">
              <a:lnSpc>
                <a:spcPct val="112000"/>
              </a:lnSpc>
            </a:pPr>
            <a:r>
              <a:rPr sz="3200" b="1" i="0">
                <a:solidFill>
                  <a:srgbClr val="2E7D5B"/>
                </a:solidFill>
                <a:latin typeface="Cambria"/>
              </a:rPr>
              <a:t>85.3</a:t>
            </a:r>
          </a:p>
        </p:txBody>
      </p:sp>
      <p:sp>
        <p:nvSpPr>
          <p:cNvPr id="36" name="TextBox 35"/>
          <p:cNvSpPr txBox="1"/>
          <p:nvPr/>
        </p:nvSpPr>
        <p:spPr>
          <a:xfrm>
            <a:off x="7769199" y="3044952"/>
            <a:ext cx="3526383" cy="457200"/>
          </a:xfrm>
          <a:prstGeom prst="rect">
            <a:avLst/>
          </a:prstGeom>
          <a:noFill/>
        </p:spPr>
        <p:txBody>
          <a:bodyPr wrap="square" lIns="0" tIns="0" rIns="0" bIns="0" anchor="t">
            <a:spAutoFit/>
          </a:bodyPr>
          <a:lstStyle/>
          <a:p>
            <a:pPr algn="l">
              <a:lnSpc>
                <a:spcPct val="110000"/>
              </a:lnSpc>
            </a:pPr>
            <a:r>
              <a:rPr sz="1200" b="1" i="0">
                <a:solidFill>
                  <a:srgbClr val="141F28"/>
                </a:solidFill>
                <a:latin typeface="Calibri"/>
              </a:rPr>
              <a:t>Healthy</a:t>
            </a:r>
          </a:p>
          <a:p>
            <a:pPr algn="l">
              <a:lnSpc>
                <a:spcPct val="110000"/>
              </a:lnSpc>
            </a:pPr>
            <a:r>
              <a:rPr sz="1200" b="1" i="0">
                <a:solidFill>
                  <a:srgbClr val="141F28"/>
                </a:solidFill>
                <a:latin typeface="Calibri"/>
              </a:rPr>
              <a:t>Low priority</a:t>
            </a:r>
          </a:p>
        </p:txBody>
      </p:sp>
      <p:sp>
        <p:nvSpPr>
          <p:cNvPr id="37" name="TextBox 36"/>
          <p:cNvSpPr txBox="1"/>
          <p:nvPr/>
        </p:nvSpPr>
        <p:spPr>
          <a:xfrm>
            <a:off x="6534759" y="3557016"/>
            <a:ext cx="4760823" cy="256032"/>
          </a:xfrm>
          <a:prstGeom prst="rect">
            <a:avLst/>
          </a:prstGeom>
          <a:noFill/>
        </p:spPr>
        <p:txBody>
          <a:bodyPr wrap="square" lIns="0" tIns="0" rIns="0" bIns="0" anchor="t">
            <a:spAutoFit/>
          </a:bodyPr>
          <a:lstStyle/>
          <a:p>
            <a:pPr algn="l">
              <a:lnSpc>
                <a:spcPct val="112000"/>
              </a:lnSpc>
            </a:pPr>
            <a:r>
              <a:rPr sz="1200" b="0" i="0">
                <a:solidFill>
                  <a:srgbClr val="57626D"/>
                </a:solidFill>
                <a:latin typeface="Calibri"/>
              </a:rPr>
              <a:t>Improving +1.0  (4.75★ recent vs. 3.79★ prior)</a:t>
            </a:r>
          </a:p>
        </p:txBody>
      </p:sp>
      <p:sp>
        <p:nvSpPr>
          <p:cNvPr id="38" name="TextBox 37"/>
          <p:cNvSpPr txBox="1"/>
          <p:nvPr/>
        </p:nvSpPr>
        <p:spPr>
          <a:xfrm>
            <a:off x="6534759" y="3803904"/>
            <a:ext cx="4760823" cy="256032"/>
          </a:xfrm>
          <a:prstGeom prst="rect">
            <a:avLst/>
          </a:prstGeom>
          <a:noFill/>
        </p:spPr>
        <p:txBody>
          <a:bodyPr wrap="square" lIns="0" tIns="0" rIns="0" bIns="0" anchor="t">
            <a:spAutoFit/>
          </a:bodyPr>
          <a:lstStyle/>
          <a:p>
            <a:pPr algn="l">
              <a:lnSpc>
                <a:spcPct val="112000"/>
              </a:lnSpc>
            </a:pPr>
            <a:r>
              <a:rPr sz="1100" b="0" i="0">
                <a:solidFill>
                  <a:srgbClr val="8B93A0"/>
                </a:solidFill>
                <a:latin typeface="Calibri"/>
              </a:rPr>
              <a:t>79.9th percentile vs. peers  ·  +1.21★ vs. peer median</a:t>
            </a:r>
          </a:p>
        </p:txBody>
      </p:sp>
      <p:sp>
        <p:nvSpPr>
          <p:cNvPr id="39" name="TextBox 38"/>
          <p:cNvSpPr txBox="1"/>
          <p:nvPr/>
        </p:nvSpPr>
        <p:spPr>
          <a:xfrm>
            <a:off x="6534759" y="4151376"/>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Peer</a:t>
            </a:r>
          </a:p>
        </p:txBody>
      </p:sp>
      <p:sp>
        <p:nvSpPr>
          <p:cNvPr id="40" name="Rectangle 39"/>
          <p:cNvSpPr/>
          <p:nvPr/>
        </p:nvSpPr>
        <p:spPr>
          <a:xfrm>
            <a:off x="7769199" y="4178808"/>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769199" y="4178808"/>
            <a:ext cx="2908848" cy="1371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185855" y="4123944"/>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87</a:t>
            </a:r>
          </a:p>
        </p:txBody>
      </p:sp>
      <p:sp>
        <p:nvSpPr>
          <p:cNvPr id="43" name="TextBox 42"/>
          <p:cNvSpPr txBox="1"/>
          <p:nvPr/>
        </p:nvSpPr>
        <p:spPr>
          <a:xfrm>
            <a:off x="6534759" y="4416552"/>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Engagement</a:t>
            </a:r>
          </a:p>
        </p:txBody>
      </p:sp>
      <p:sp>
        <p:nvSpPr>
          <p:cNvPr id="44" name="Rectangle 43"/>
          <p:cNvSpPr/>
          <p:nvPr/>
        </p:nvSpPr>
        <p:spPr>
          <a:xfrm>
            <a:off x="7769199" y="4443984"/>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769199" y="4443984"/>
            <a:ext cx="3142893" cy="1371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185855" y="4389120"/>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94</a:t>
            </a:r>
          </a:p>
        </p:txBody>
      </p:sp>
      <p:sp>
        <p:nvSpPr>
          <p:cNvPr id="47" name="TextBox 46"/>
          <p:cNvSpPr txBox="1"/>
          <p:nvPr/>
        </p:nvSpPr>
        <p:spPr>
          <a:xfrm>
            <a:off x="6534759" y="4681728"/>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Momentum</a:t>
            </a:r>
          </a:p>
        </p:txBody>
      </p:sp>
      <p:sp>
        <p:nvSpPr>
          <p:cNvPr id="48" name="Rectangle 47"/>
          <p:cNvSpPr/>
          <p:nvPr/>
        </p:nvSpPr>
        <p:spPr>
          <a:xfrm>
            <a:off x="7769199" y="4709160"/>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769199" y="4709160"/>
            <a:ext cx="2139842" cy="1371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1185855" y="4654296"/>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64</a:t>
            </a:r>
          </a:p>
        </p:txBody>
      </p:sp>
      <p:sp>
        <p:nvSpPr>
          <p:cNvPr id="51" name="TextBox 50"/>
          <p:cNvSpPr txBox="1"/>
          <p:nvPr/>
        </p:nvSpPr>
        <p:spPr>
          <a:xfrm>
            <a:off x="6534759" y="4946904"/>
            <a:ext cx="1188720" cy="219456"/>
          </a:xfrm>
          <a:prstGeom prst="rect">
            <a:avLst/>
          </a:prstGeom>
          <a:noFill/>
        </p:spPr>
        <p:txBody>
          <a:bodyPr wrap="square" lIns="0" tIns="0" rIns="0" bIns="0" anchor="t">
            <a:spAutoFit/>
          </a:bodyPr>
          <a:lstStyle/>
          <a:p>
            <a:pPr algn="l">
              <a:lnSpc>
                <a:spcPct val="112000"/>
              </a:lnSpc>
            </a:pPr>
            <a:r>
              <a:rPr sz="1050" b="0" i="0">
                <a:solidFill>
                  <a:srgbClr val="57626D"/>
                </a:solidFill>
                <a:latin typeface="Calibri"/>
              </a:rPr>
              <a:t>Cust. Exp.</a:t>
            </a:r>
          </a:p>
        </p:txBody>
      </p:sp>
      <p:sp>
        <p:nvSpPr>
          <p:cNvPr id="52" name="Rectangle 51"/>
          <p:cNvSpPr/>
          <p:nvPr/>
        </p:nvSpPr>
        <p:spPr>
          <a:xfrm>
            <a:off x="7769199" y="4974336"/>
            <a:ext cx="3343503" cy="137160"/>
          </a:xfrm>
          <a:prstGeom prst="rect">
            <a:avLst/>
          </a:prstGeom>
          <a:solidFill>
            <a:srgbClr val="DCD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769199" y="4974336"/>
            <a:ext cx="3109458" cy="13716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1185855" y="4919472"/>
            <a:ext cx="365760" cy="219456"/>
          </a:xfrm>
          <a:prstGeom prst="rect">
            <a:avLst/>
          </a:prstGeom>
          <a:noFill/>
        </p:spPr>
        <p:txBody>
          <a:bodyPr wrap="square" lIns="0" tIns="0" rIns="0" bIns="0" anchor="t">
            <a:spAutoFit/>
          </a:bodyPr>
          <a:lstStyle/>
          <a:p>
            <a:pPr algn="l">
              <a:lnSpc>
                <a:spcPct val="112000"/>
              </a:lnSpc>
            </a:pPr>
            <a:r>
              <a:rPr sz="1050" b="1" i="0">
                <a:solidFill>
                  <a:srgbClr val="141F28"/>
                </a:solidFill>
                <a:latin typeface="Calibri"/>
              </a:rPr>
              <a:t>93</a:t>
            </a:r>
          </a:p>
        </p:txBody>
      </p:sp>
      <p:sp>
        <p:nvSpPr>
          <p:cNvPr id="55" name="TextBox 54"/>
          <p:cNvSpPr txBox="1"/>
          <p:nvPr/>
        </p:nvSpPr>
        <p:spPr>
          <a:xfrm>
            <a:off x="6534759" y="5266944"/>
            <a:ext cx="4760823" cy="502920"/>
          </a:xfrm>
          <a:prstGeom prst="rect">
            <a:avLst/>
          </a:prstGeom>
          <a:noFill/>
        </p:spPr>
        <p:txBody>
          <a:bodyPr wrap="square" lIns="0" tIns="0" rIns="0" bIns="0" anchor="t">
            <a:spAutoFit/>
          </a:bodyPr>
          <a:lstStyle/>
          <a:p>
            <a:pPr algn="l">
              <a:lnSpc>
                <a:spcPct val="120000"/>
              </a:lnSpc>
            </a:pPr>
            <a:r>
              <a:rPr sz="1050" b="0" i="1">
                <a:solidFill>
                  <a:srgbClr val="57626D"/>
                </a:solidFill>
                <a:latin typeface="Calibri"/>
              </a:rPr>
              <a:t>Consistently strong across all four pillars -- healthy here means no weak link, not one standout number.</a:t>
            </a:r>
          </a:p>
        </p:txBody>
      </p:sp>
      <p:sp>
        <p:nvSpPr>
          <p:cNvPr id="56" name="TextBox 55"/>
          <p:cNvSpPr txBox="1"/>
          <p:nvPr/>
        </p:nvSpPr>
        <p:spPr>
          <a:xfrm>
            <a:off x="640080" y="5989320"/>
            <a:ext cx="10911535" cy="457200"/>
          </a:xfrm>
          <a:prstGeom prst="rect">
            <a:avLst/>
          </a:prstGeom>
          <a:noFill/>
        </p:spPr>
        <p:txBody>
          <a:bodyPr wrap="square" lIns="0" tIns="0" rIns="0" bIns="0" anchor="t">
            <a:spAutoFit/>
          </a:bodyPr>
          <a:lstStyle/>
          <a:p>
            <a:pPr algn="l">
              <a:lnSpc>
                <a:spcPct val="120000"/>
              </a:lnSpc>
            </a:pPr>
            <a:r>
              <a:rPr sz="1300" b="0" i="0">
                <a:solidFill>
                  <a:srgbClr val="57626D"/>
                </a:solidFill>
                <a:latin typeface="Calibri"/>
              </a:rPr>
              <a:t>Every one of the 19,154 scored locations gets a card like this -- not just a number, but the specific pillars and evidence behind it, so an operator knows exactly what to fix first.</a:t>
            </a:r>
          </a:p>
        </p:txBody>
      </p:sp>
      <p:sp>
        <p:nvSpPr>
          <p:cNvPr id="57" name="TextBox 56"/>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QSR_FINAL_LHI_DATA.csv, analysis/output/. Two real, individually identifiable locations shown as a worked example of the scoring logic.</a:t>
            </a:r>
          </a:p>
        </p:txBody>
      </p:sp>
      <p:sp>
        <p:nvSpPr>
          <p:cNvPr id="58" name="TextBox 57"/>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07</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HOW THE WEIGHTS WERE CHOSEN  -  07</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100" b="1" i="0">
                <a:solidFill>
                  <a:srgbClr val="141F28"/>
                </a:solidFill>
                <a:latin typeface="Cambria"/>
              </a:rPr>
              <a:t>Every weight is a business judgement -- tested, not just assumed</a:t>
            </a:r>
          </a:p>
        </p:txBody>
      </p:sp>
      <p:sp>
        <p:nvSpPr>
          <p:cNvPr id="4" name="Rounded Rectangle 3"/>
          <p:cNvSpPr/>
          <p:nvPr/>
        </p:nvSpPr>
        <p:spPr>
          <a:xfrm>
            <a:off x="640080" y="1965960"/>
            <a:ext cx="2487853" cy="3520440"/>
          </a:xfrm>
          <a:prstGeom prst="roundRect">
            <a:avLst/>
          </a:prstGeom>
          <a:solidFill>
            <a:srgbClr val="F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203704"/>
            <a:ext cx="2085517" cy="685800"/>
          </a:xfrm>
          <a:prstGeom prst="rect">
            <a:avLst/>
          </a:prstGeom>
          <a:noFill/>
        </p:spPr>
        <p:txBody>
          <a:bodyPr wrap="square" lIns="0" tIns="0" rIns="0" bIns="0" anchor="t">
            <a:spAutoFit/>
          </a:bodyPr>
          <a:lstStyle/>
          <a:p>
            <a:pPr algn="l">
              <a:lnSpc>
                <a:spcPct val="112000"/>
              </a:lnSpc>
            </a:pPr>
            <a:r>
              <a:rPr sz="3200" b="1" i="0">
                <a:solidFill>
                  <a:srgbClr val="2E6B78"/>
                </a:solidFill>
                <a:latin typeface="Cambria"/>
              </a:rPr>
              <a:t>31.8%</a:t>
            </a:r>
          </a:p>
        </p:txBody>
      </p:sp>
      <p:sp>
        <p:nvSpPr>
          <p:cNvPr id="6" name="TextBox 5"/>
          <p:cNvSpPr txBox="1"/>
          <p:nvPr/>
        </p:nvSpPr>
        <p:spPr>
          <a:xfrm>
            <a:off x="841247" y="2898648"/>
            <a:ext cx="2085517" cy="548640"/>
          </a:xfrm>
          <a:prstGeom prst="rect">
            <a:avLst/>
          </a:prstGeom>
          <a:noFill/>
        </p:spPr>
        <p:txBody>
          <a:bodyPr wrap="square" lIns="0" tIns="0" rIns="0" bIns="0" anchor="t">
            <a:spAutoFit/>
          </a:bodyPr>
          <a:lstStyle/>
          <a:p>
            <a:pPr algn="l">
              <a:lnSpc>
                <a:spcPct val="110000"/>
              </a:lnSpc>
            </a:pPr>
            <a:r>
              <a:rPr sz="1450" b="1" i="0">
                <a:solidFill>
                  <a:srgbClr val="141F28"/>
                </a:solidFill>
                <a:latin typeface="Cambria"/>
              </a:rPr>
              <a:t>Peer Standing</a:t>
            </a:r>
          </a:p>
        </p:txBody>
      </p:sp>
      <p:sp>
        <p:nvSpPr>
          <p:cNvPr id="7" name="TextBox 6"/>
          <p:cNvSpPr txBox="1"/>
          <p:nvPr/>
        </p:nvSpPr>
        <p:spPr>
          <a:xfrm>
            <a:off x="841247" y="3474720"/>
            <a:ext cx="2085517" cy="1920240"/>
          </a:xfrm>
          <a:prstGeom prst="rect">
            <a:avLst/>
          </a:prstGeom>
          <a:noFill/>
        </p:spPr>
        <p:txBody>
          <a:bodyPr wrap="square" lIns="0" tIns="0" rIns="0" bIns="0" anchor="t">
            <a:spAutoFit/>
          </a:bodyPr>
          <a:lstStyle/>
          <a:p>
            <a:pPr algn="l">
              <a:lnSpc>
                <a:spcPct val="130000"/>
              </a:lnSpc>
            </a:pPr>
            <a:r>
              <a:rPr sz="1150" b="0" i="0">
                <a:solidFill>
                  <a:srgbClr val="57626D"/>
                </a:solidFill>
                <a:latin typeface="Calibri"/>
              </a:rPr>
              <a:t>Health only means something next to comparable local competition, so this counts for the most.</a:t>
            </a:r>
          </a:p>
        </p:txBody>
      </p:sp>
      <p:sp>
        <p:nvSpPr>
          <p:cNvPr id="8" name="Rounded Rectangle 7"/>
          <p:cNvSpPr/>
          <p:nvPr/>
        </p:nvSpPr>
        <p:spPr>
          <a:xfrm>
            <a:off x="3447973" y="1965960"/>
            <a:ext cx="2487853" cy="3520440"/>
          </a:xfrm>
          <a:prstGeom prst="roundRect">
            <a:avLst/>
          </a:prstGeom>
          <a:solidFill>
            <a:srgbClr val="F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49141" y="2203704"/>
            <a:ext cx="2085517" cy="685800"/>
          </a:xfrm>
          <a:prstGeom prst="rect">
            <a:avLst/>
          </a:prstGeom>
          <a:noFill/>
        </p:spPr>
        <p:txBody>
          <a:bodyPr wrap="square" lIns="0" tIns="0" rIns="0" bIns="0" anchor="t">
            <a:spAutoFit/>
          </a:bodyPr>
          <a:lstStyle/>
          <a:p>
            <a:pPr algn="l">
              <a:lnSpc>
                <a:spcPct val="112000"/>
              </a:lnSpc>
            </a:pPr>
            <a:r>
              <a:rPr sz="3200" b="1" i="0">
                <a:solidFill>
                  <a:srgbClr val="2E6B78"/>
                </a:solidFill>
                <a:latin typeface="Cambria"/>
              </a:rPr>
              <a:t>29.2%</a:t>
            </a:r>
          </a:p>
        </p:txBody>
      </p:sp>
      <p:sp>
        <p:nvSpPr>
          <p:cNvPr id="10" name="TextBox 9"/>
          <p:cNvSpPr txBox="1"/>
          <p:nvPr/>
        </p:nvSpPr>
        <p:spPr>
          <a:xfrm>
            <a:off x="3649141" y="2898648"/>
            <a:ext cx="2085517" cy="548640"/>
          </a:xfrm>
          <a:prstGeom prst="rect">
            <a:avLst/>
          </a:prstGeom>
          <a:noFill/>
        </p:spPr>
        <p:txBody>
          <a:bodyPr wrap="square" lIns="0" tIns="0" rIns="0" bIns="0" anchor="t">
            <a:spAutoFit/>
          </a:bodyPr>
          <a:lstStyle/>
          <a:p>
            <a:pPr algn="l">
              <a:lnSpc>
                <a:spcPct val="110000"/>
              </a:lnSpc>
            </a:pPr>
            <a:r>
              <a:rPr sz="1450" b="1" i="0">
                <a:solidFill>
                  <a:srgbClr val="141F28"/>
                </a:solidFill>
                <a:latin typeface="Cambria"/>
              </a:rPr>
              <a:t>Engagement</a:t>
            </a:r>
          </a:p>
        </p:txBody>
      </p:sp>
      <p:sp>
        <p:nvSpPr>
          <p:cNvPr id="11" name="TextBox 10"/>
          <p:cNvSpPr txBox="1"/>
          <p:nvPr/>
        </p:nvSpPr>
        <p:spPr>
          <a:xfrm>
            <a:off x="3649141" y="3474720"/>
            <a:ext cx="2085517" cy="1920240"/>
          </a:xfrm>
          <a:prstGeom prst="rect">
            <a:avLst/>
          </a:prstGeom>
          <a:noFill/>
        </p:spPr>
        <p:txBody>
          <a:bodyPr wrap="square" lIns="0" tIns="0" rIns="0" bIns="0" anchor="t">
            <a:spAutoFit/>
          </a:bodyPr>
          <a:lstStyle/>
          <a:p>
            <a:pPr algn="l">
              <a:lnSpc>
                <a:spcPct val="130000"/>
              </a:lnSpc>
            </a:pPr>
            <a:r>
              <a:rPr sz="1150" b="0" i="0">
                <a:solidFill>
                  <a:srgbClr val="57626D"/>
                </a:solidFill>
                <a:latin typeface="Calibri"/>
              </a:rPr>
              <a:t>Reviews, check-ins, and tips show a location people are actually visiting and talking about.</a:t>
            </a:r>
          </a:p>
        </p:txBody>
      </p:sp>
      <p:sp>
        <p:nvSpPr>
          <p:cNvPr id="12" name="Rounded Rectangle 11"/>
          <p:cNvSpPr/>
          <p:nvPr/>
        </p:nvSpPr>
        <p:spPr>
          <a:xfrm>
            <a:off x="6255867" y="1965960"/>
            <a:ext cx="2487853" cy="3520440"/>
          </a:xfrm>
          <a:prstGeom prst="roundRect">
            <a:avLst/>
          </a:prstGeom>
          <a:solidFill>
            <a:srgbClr val="F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7035" y="2203704"/>
            <a:ext cx="2085517" cy="685800"/>
          </a:xfrm>
          <a:prstGeom prst="rect">
            <a:avLst/>
          </a:prstGeom>
          <a:noFill/>
        </p:spPr>
        <p:txBody>
          <a:bodyPr wrap="square" lIns="0" tIns="0" rIns="0" bIns="0" anchor="t">
            <a:spAutoFit/>
          </a:bodyPr>
          <a:lstStyle/>
          <a:p>
            <a:pPr algn="l">
              <a:lnSpc>
                <a:spcPct val="112000"/>
              </a:lnSpc>
            </a:pPr>
            <a:r>
              <a:rPr sz="3200" b="1" i="0">
                <a:solidFill>
                  <a:srgbClr val="2E6B78"/>
                </a:solidFill>
                <a:latin typeface="Cambria"/>
              </a:rPr>
              <a:t>20.3%</a:t>
            </a:r>
          </a:p>
        </p:txBody>
      </p:sp>
      <p:sp>
        <p:nvSpPr>
          <p:cNvPr id="14" name="TextBox 13"/>
          <p:cNvSpPr txBox="1"/>
          <p:nvPr/>
        </p:nvSpPr>
        <p:spPr>
          <a:xfrm>
            <a:off x="6457035" y="2898648"/>
            <a:ext cx="2085517" cy="548640"/>
          </a:xfrm>
          <a:prstGeom prst="rect">
            <a:avLst/>
          </a:prstGeom>
          <a:noFill/>
        </p:spPr>
        <p:txBody>
          <a:bodyPr wrap="square" lIns="0" tIns="0" rIns="0" bIns="0" anchor="t">
            <a:spAutoFit/>
          </a:bodyPr>
          <a:lstStyle/>
          <a:p>
            <a:pPr algn="l">
              <a:lnSpc>
                <a:spcPct val="110000"/>
              </a:lnSpc>
            </a:pPr>
            <a:r>
              <a:rPr sz="1450" b="1" i="0">
                <a:solidFill>
                  <a:srgbClr val="141F28"/>
                </a:solidFill>
                <a:latin typeface="Cambria"/>
              </a:rPr>
              <a:t>Momentum</a:t>
            </a:r>
          </a:p>
        </p:txBody>
      </p:sp>
      <p:sp>
        <p:nvSpPr>
          <p:cNvPr id="15" name="TextBox 14"/>
          <p:cNvSpPr txBox="1"/>
          <p:nvPr/>
        </p:nvSpPr>
        <p:spPr>
          <a:xfrm>
            <a:off x="6457035" y="3474720"/>
            <a:ext cx="2085517" cy="1920240"/>
          </a:xfrm>
          <a:prstGeom prst="rect">
            <a:avLst/>
          </a:prstGeom>
          <a:noFill/>
        </p:spPr>
        <p:txBody>
          <a:bodyPr wrap="square" lIns="0" tIns="0" rIns="0" bIns="0" anchor="t">
            <a:spAutoFit/>
          </a:bodyPr>
          <a:lstStyle/>
          <a:p>
            <a:pPr algn="l">
              <a:lnSpc>
                <a:spcPct val="130000"/>
              </a:lnSpc>
            </a:pPr>
            <a:r>
              <a:rPr sz="1150" b="0" i="0">
                <a:solidFill>
                  <a:srgbClr val="57626D"/>
                </a:solidFill>
                <a:latin typeface="Calibri"/>
              </a:rPr>
              <a:t>Direction of travel -- a good-looking score that is quietly getting worse is exactly what this is meant to catch.</a:t>
            </a:r>
          </a:p>
        </p:txBody>
      </p:sp>
      <p:sp>
        <p:nvSpPr>
          <p:cNvPr id="16" name="Rounded Rectangle 15"/>
          <p:cNvSpPr/>
          <p:nvPr/>
        </p:nvSpPr>
        <p:spPr>
          <a:xfrm>
            <a:off x="9063761" y="1965960"/>
            <a:ext cx="2487853" cy="3520440"/>
          </a:xfrm>
          <a:prstGeom prst="roundRect">
            <a:avLst/>
          </a:prstGeom>
          <a:solidFill>
            <a:srgbClr val="F7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64929" y="2203704"/>
            <a:ext cx="2085517" cy="685800"/>
          </a:xfrm>
          <a:prstGeom prst="rect">
            <a:avLst/>
          </a:prstGeom>
          <a:noFill/>
        </p:spPr>
        <p:txBody>
          <a:bodyPr wrap="square" lIns="0" tIns="0" rIns="0" bIns="0" anchor="t">
            <a:spAutoFit/>
          </a:bodyPr>
          <a:lstStyle/>
          <a:p>
            <a:pPr algn="l">
              <a:lnSpc>
                <a:spcPct val="112000"/>
              </a:lnSpc>
            </a:pPr>
            <a:r>
              <a:rPr sz="3200" b="1" i="0">
                <a:solidFill>
                  <a:srgbClr val="2E6B78"/>
                </a:solidFill>
                <a:latin typeface="Cambria"/>
              </a:rPr>
              <a:t>18.7%</a:t>
            </a:r>
          </a:p>
        </p:txBody>
      </p:sp>
      <p:sp>
        <p:nvSpPr>
          <p:cNvPr id="18" name="TextBox 17"/>
          <p:cNvSpPr txBox="1"/>
          <p:nvPr/>
        </p:nvSpPr>
        <p:spPr>
          <a:xfrm>
            <a:off x="9264929" y="2898648"/>
            <a:ext cx="2085517" cy="548640"/>
          </a:xfrm>
          <a:prstGeom prst="rect">
            <a:avLst/>
          </a:prstGeom>
          <a:noFill/>
        </p:spPr>
        <p:txBody>
          <a:bodyPr wrap="square" lIns="0" tIns="0" rIns="0" bIns="0" anchor="t">
            <a:spAutoFit/>
          </a:bodyPr>
          <a:lstStyle/>
          <a:p>
            <a:pPr algn="l">
              <a:lnSpc>
                <a:spcPct val="110000"/>
              </a:lnSpc>
            </a:pPr>
            <a:r>
              <a:rPr sz="1450" b="1" i="0">
                <a:solidFill>
                  <a:srgbClr val="141F28"/>
                </a:solidFill>
                <a:latin typeface="Cambria"/>
              </a:rPr>
              <a:t>Cust. Experience</a:t>
            </a:r>
          </a:p>
        </p:txBody>
      </p:sp>
      <p:sp>
        <p:nvSpPr>
          <p:cNvPr id="19" name="TextBox 18"/>
          <p:cNvSpPr txBox="1"/>
          <p:nvPr/>
        </p:nvSpPr>
        <p:spPr>
          <a:xfrm>
            <a:off x="9264929" y="3474720"/>
            <a:ext cx="2085517" cy="1920240"/>
          </a:xfrm>
          <a:prstGeom prst="rect">
            <a:avLst/>
          </a:prstGeom>
          <a:noFill/>
        </p:spPr>
        <p:txBody>
          <a:bodyPr wrap="square" lIns="0" tIns="0" rIns="0" bIns="0" anchor="t">
            <a:spAutoFit/>
          </a:bodyPr>
          <a:lstStyle/>
          <a:p>
            <a:pPr algn="l">
              <a:lnSpc>
                <a:spcPct val="130000"/>
              </a:lnSpc>
            </a:pPr>
            <a:r>
              <a:rPr sz="1150" b="0" i="0">
                <a:solidFill>
                  <a:srgbClr val="57626D"/>
                </a:solidFill>
                <a:latin typeface="Calibri"/>
              </a:rPr>
              <a:t>The specific, fixable drivers -- food, service, cleanliness -- weighted lowest because review-level signal is noisier.</a:t>
            </a:r>
          </a:p>
        </p:txBody>
      </p:sp>
      <p:sp>
        <p:nvSpPr>
          <p:cNvPr id="20" name="TextBox 19"/>
          <p:cNvSpPr txBox="1"/>
          <p:nvPr/>
        </p:nvSpPr>
        <p:spPr>
          <a:xfrm>
            <a:off x="640080" y="5715000"/>
            <a:ext cx="10911535" cy="640080"/>
          </a:xfrm>
          <a:prstGeom prst="rect">
            <a:avLst/>
          </a:prstGeom>
          <a:noFill/>
        </p:spPr>
        <p:txBody>
          <a:bodyPr wrap="square" lIns="0" tIns="0" rIns="0" bIns="0" anchor="t">
            <a:spAutoFit/>
          </a:bodyPr>
          <a:lstStyle/>
          <a:p>
            <a:pPr algn="l">
              <a:lnSpc>
                <a:spcPct val="125000"/>
              </a:lnSpc>
            </a:pPr>
            <a:r>
              <a:rPr sz="1300" b="0" i="0">
                <a:solidFill>
                  <a:srgbClr val="57626D"/>
                </a:solidFill>
                <a:latin typeface="Calibri"/>
              </a:rPr>
              <a:t>These weights blend business judgement with statistical and model-based evidence -- none of it is precision science. The next slide shows the ranking barely moves even under five deliberately extreme alternative weightings.</a:t>
            </a:r>
          </a:p>
        </p:txBody>
      </p:sp>
      <p:sp>
        <p:nvSpPr>
          <p:cNvPr id="21" name="TextBox 20"/>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QSR_LHI_Technical_Report_Agency5_v5.pdf, Section 06 (Building the LHI). LHI-3, the hybrid construction, is the version scored throughout this deck.</a:t>
            </a:r>
          </a:p>
        </p:txBody>
      </p:sp>
      <p:sp>
        <p:nvSpPr>
          <p:cNvPr id="22" name="TextBox 21"/>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08</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LHI CONSTRUCTION AND VALIDATION  -  08</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100" b="1" i="0">
                <a:solidFill>
                  <a:srgbClr val="141F28"/>
                </a:solidFill>
                <a:latin typeface="Cambria"/>
              </a:rPr>
              <a:t>Location rankings remain broadly stable across alternative LHI constructions</a:t>
            </a:r>
          </a:p>
        </p:txBody>
      </p:sp>
      <p:pic>
        <p:nvPicPr>
          <p:cNvPr id="4" name="Picture 3" descr="fig_09_sensitivity_dumbbell_final.png"/>
          <p:cNvPicPr>
            <a:picLocks noChangeAspect="1"/>
          </p:cNvPicPr>
          <p:nvPr/>
        </p:nvPicPr>
        <p:blipFill>
          <a:blip r:embed="rId3"/>
          <a:stretch>
            <a:fillRect/>
          </a:stretch>
        </p:blipFill>
        <p:spPr>
          <a:xfrm>
            <a:off x="2217802" y="1965960"/>
            <a:ext cx="7756089" cy="3794760"/>
          </a:xfrm>
          <a:prstGeom prst="rect">
            <a:avLst/>
          </a:prstGeom>
        </p:spPr>
      </p:pic>
      <p:sp>
        <p:nvSpPr>
          <p:cNvPr id="5" name="TextBox 4"/>
          <p:cNvSpPr txBox="1"/>
          <p:nvPr/>
        </p:nvSpPr>
        <p:spPr>
          <a:xfrm>
            <a:off x="640080" y="5897880"/>
            <a:ext cx="10911535" cy="640080"/>
          </a:xfrm>
          <a:prstGeom prst="rect">
            <a:avLst/>
          </a:prstGeom>
          <a:noFill/>
        </p:spPr>
        <p:txBody>
          <a:bodyPr wrap="square" lIns="0" tIns="0" rIns="0" bIns="0" anchor="t">
            <a:spAutoFit/>
          </a:bodyPr>
          <a:lstStyle/>
          <a:p>
            <a:pPr algn="l">
              <a:lnSpc>
                <a:spcPct val="125000"/>
              </a:lnSpc>
            </a:pPr>
            <a:r>
              <a:rPr sz="1350" b="0" i="0">
                <a:solidFill>
                  <a:srgbClr val="57626D"/>
                </a:solidFill>
                <a:latin typeface="Calibri"/>
              </a:rPr>
              <a:t>Across five deliberately extreme reweightings, agreement with LHI-3 -- the version actually scored throughout this deck -- never drops below 0.95.</a:t>
            </a:r>
          </a:p>
        </p:txBody>
      </p:sp>
      <p:sp>
        <p:nvSpPr>
          <p:cNvPr id="6" name="TextBox 5"/>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QSR_LHI_SENSITIVITY.csv, analysis/output/. n = 19,154 classified businesses, scored under each weighting scenario, tested against LHI-3.</a:t>
            </a:r>
          </a:p>
        </p:txBody>
      </p:sp>
      <p:sp>
        <p:nvSpPr>
          <p:cNvPr id="7" name="TextBox 6"/>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09</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OPERATIONAL PRIORITISATION  -  09</a:t>
            </a:r>
          </a:p>
        </p:txBody>
      </p:sp>
      <p:sp>
        <p:nvSpPr>
          <p:cNvPr id="3" name="Rounded Rectangle 2"/>
          <p:cNvSpPr/>
          <p:nvPr/>
        </p:nvSpPr>
        <p:spPr>
          <a:xfrm>
            <a:off x="1889607" y="1051560"/>
            <a:ext cx="1737360" cy="50292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89607" y="1051560"/>
            <a:ext cx="1737360" cy="502920"/>
          </a:xfrm>
          <a:prstGeom prst="rect">
            <a:avLst/>
          </a:prstGeom>
          <a:noFill/>
        </p:spPr>
        <p:txBody>
          <a:bodyPr wrap="square" lIns="0" tIns="0" rIns="0" bIns="0" anchor="ctr">
            <a:spAutoFit/>
          </a:bodyPr>
          <a:lstStyle/>
          <a:p>
            <a:pPr algn="ctr">
              <a:lnSpc>
                <a:spcPct val="112000"/>
              </a:lnSpc>
            </a:pPr>
            <a:r>
              <a:rPr sz="1350" b="1" i="0">
                <a:solidFill>
                  <a:srgbClr val="2E6B78"/>
                </a:solidFill>
                <a:latin typeface="Cambria"/>
              </a:rPr>
              <a:t>Health band</a:t>
            </a:r>
          </a:p>
        </p:txBody>
      </p:sp>
      <p:sp>
        <p:nvSpPr>
          <p:cNvPr id="5" name="TextBox 4"/>
          <p:cNvSpPr txBox="1"/>
          <p:nvPr/>
        </p:nvSpPr>
        <p:spPr>
          <a:xfrm>
            <a:off x="3626967" y="1051560"/>
            <a:ext cx="365760" cy="502920"/>
          </a:xfrm>
          <a:prstGeom prst="rect">
            <a:avLst/>
          </a:prstGeom>
          <a:noFill/>
        </p:spPr>
        <p:txBody>
          <a:bodyPr wrap="square" lIns="0" tIns="0" rIns="0" bIns="0" anchor="ctr">
            <a:spAutoFit/>
          </a:bodyPr>
          <a:lstStyle/>
          <a:p>
            <a:pPr algn="ctr">
              <a:lnSpc>
                <a:spcPct val="112000"/>
              </a:lnSpc>
            </a:pPr>
            <a:r>
              <a:rPr sz="1600" b="1" i="0">
                <a:solidFill>
                  <a:srgbClr val="8B93A0"/>
                </a:solidFill>
                <a:latin typeface="Calibri"/>
              </a:rPr>
              <a:t>x</a:t>
            </a:r>
          </a:p>
        </p:txBody>
      </p:sp>
      <p:sp>
        <p:nvSpPr>
          <p:cNvPr id="6" name="Rounded Rectangle 5"/>
          <p:cNvSpPr/>
          <p:nvPr/>
        </p:nvSpPr>
        <p:spPr>
          <a:xfrm>
            <a:off x="3992727" y="1051560"/>
            <a:ext cx="1737360" cy="50292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92727" y="1051560"/>
            <a:ext cx="1737360" cy="502920"/>
          </a:xfrm>
          <a:prstGeom prst="rect">
            <a:avLst/>
          </a:prstGeom>
          <a:noFill/>
        </p:spPr>
        <p:txBody>
          <a:bodyPr wrap="square" lIns="0" tIns="0" rIns="0" bIns="0" anchor="ctr">
            <a:spAutoFit/>
          </a:bodyPr>
          <a:lstStyle/>
          <a:p>
            <a:pPr algn="ctr">
              <a:lnSpc>
                <a:spcPct val="112000"/>
              </a:lnSpc>
            </a:pPr>
            <a:r>
              <a:rPr sz="1350" b="1" i="0">
                <a:solidFill>
                  <a:srgbClr val="2E6B78"/>
                </a:solidFill>
                <a:latin typeface="Cambria"/>
              </a:rPr>
              <a:t>Trajectory</a:t>
            </a:r>
          </a:p>
        </p:txBody>
      </p:sp>
      <p:sp>
        <p:nvSpPr>
          <p:cNvPr id="8" name="TextBox 7"/>
          <p:cNvSpPr txBox="1"/>
          <p:nvPr/>
        </p:nvSpPr>
        <p:spPr>
          <a:xfrm>
            <a:off x="5730087" y="1051560"/>
            <a:ext cx="365760" cy="502920"/>
          </a:xfrm>
          <a:prstGeom prst="rect">
            <a:avLst/>
          </a:prstGeom>
          <a:noFill/>
        </p:spPr>
        <p:txBody>
          <a:bodyPr wrap="square" lIns="0" tIns="0" rIns="0" bIns="0" anchor="ctr">
            <a:spAutoFit/>
          </a:bodyPr>
          <a:lstStyle/>
          <a:p>
            <a:pPr algn="ctr">
              <a:lnSpc>
                <a:spcPct val="112000"/>
              </a:lnSpc>
            </a:pPr>
            <a:r>
              <a:rPr sz="1600" b="1" i="0">
                <a:solidFill>
                  <a:srgbClr val="8B93A0"/>
                </a:solidFill>
                <a:latin typeface="Calibri"/>
              </a:rPr>
              <a:t>x</a:t>
            </a:r>
          </a:p>
        </p:txBody>
      </p:sp>
      <p:sp>
        <p:nvSpPr>
          <p:cNvPr id="9" name="Rounded Rectangle 8"/>
          <p:cNvSpPr/>
          <p:nvPr/>
        </p:nvSpPr>
        <p:spPr>
          <a:xfrm>
            <a:off x="6095847" y="1051560"/>
            <a:ext cx="1737360" cy="50292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095847" y="1051560"/>
            <a:ext cx="1737360" cy="502920"/>
          </a:xfrm>
          <a:prstGeom prst="rect">
            <a:avLst/>
          </a:prstGeom>
          <a:noFill/>
        </p:spPr>
        <p:txBody>
          <a:bodyPr wrap="square" lIns="0" tIns="0" rIns="0" bIns="0" anchor="ctr">
            <a:spAutoFit/>
          </a:bodyPr>
          <a:lstStyle/>
          <a:p>
            <a:pPr algn="ctr">
              <a:lnSpc>
                <a:spcPct val="112000"/>
              </a:lnSpc>
            </a:pPr>
            <a:r>
              <a:rPr sz="1350" b="1" i="0">
                <a:solidFill>
                  <a:srgbClr val="2E6B78"/>
                </a:solidFill>
                <a:latin typeface="Cambria"/>
              </a:rPr>
              <a:t>Confidence</a:t>
            </a:r>
          </a:p>
        </p:txBody>
      </p:sp>
      <p:sp>
        <p:nvSpPr>
          <p:cNvPr id="11" name="TextBox 10"/>
          <p:cNvSpPr txBox="1"/>
          <p:nvPr/>
        </p:nvSpPr>
        <p:spPr>
          <a:xfrm>
            <a:off x="7833207" y="1051560"/>
            <a:ext cx="365760" cy="502920"/>
          </a:xfrm>
          <a:prstGeom prst="rect">
            <a:avLst/>
          </a:prstGeom>
          <a:noFill/>
        </p:spPr>
        <p:txBody>
          <a:bodyPr wrap="square" lIns="0" tIns="0" rIns="0" bIns="0" anchor="ctr">
            <a:spAutoFit/>
          </a:bodyPr>
          <a:lstStyle/>
          <a:p>
            <a:pPr algn="ctr">
              <a:lnSpc>
                <a:spcPct val="112000"/>
              </a:lnSpc>
            </a:pPr>
            <a:r>
              <a:rPr sz="1600" b="1" i="0">
                <a:solidFill>
                  <a:srgbClr val="8B93A0"/>
                </a:solidFill>
                <a:latin typeface="Calibri"/>
              </a:rPr>
              <a:t>x</a:t>
            </a:r>
          </a:p>
        </p:txBody>
      </p:sp>
      <p:sp>
        <p:nvSpPr>
          <p:cNvPr id="12" name="TextBox 11"/>
          <p:cNvSpPr txBox="1"/>
          <p:nvPr/>
        </p:nvSpPr>
        <p:spPr>
          <a:xfrm>
            <a:off x="8198967" y="1051560"/>
            <a:ext cx="274320" cy="502920"/>
          </a:xfrm>
          <a:prstGeom prst="rect">
            <a:avLst/>
          </a:prstGeom>
          <a:noFill/>
        </p:spPr>
        <p:txBody>
          <a:bodyPr wrap="square" lIns="0" tIns="0" rIns="0" bIns="0" anchor="ctr">
            <a:spAutoFit/>
          </a:bodyPr>
          <a:lstStyle/>
          <a:p>
            <a:pPr algn="ctr">
              <a:lnSpc>
                <a:spcPct val="112000"/>
              </a:lnSpc>
            </a:pPr>
            <a:r>
              <a:rPr sz="1600" b="1" i="0">
                <a:solidFill>
                  <a:srgbClr val="8B93A0"/>
                </a:solidFill>
                <a:latin typeface="Calibri"/>
              </a:rPr>
              <a:t>&gt;</a:t>
            </a:r>
          </a:p>
        </p:txBody>
      </p:sp>
      <p:sp>
        <p:nvSpPr>
          <p:cNvPr id="13" name="Rounded Rectangle 12"/>
          <p:cNvSpPr/>
          <p:nvPr/>
        </p:nvSpPr>
        <p:spPr>
          <a:xfrm>
            <a:off x="8473287" y="1051560"/>
            <a:ext cx="1828799" cy="502920"/>
          </a:xfrm>
          <a:prstGeom prst="roundRect">
            <a:avLst/>
          </a:prstGeom>
          <a:solidFill>
            <a:srgbClr val="141F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73287" y="1051560"/>
            <a:ext cx="1828799" cy="502920"/>
          </a:xfrm>
          <a:prstGeom prst="rect">
            <a:avLst/>
          </a:prstGeom>
          <a:noFill/>
        </p:spPr>
        <p:txBody>
          <a:bodyPr wrap="square" lIns="0" tIns="0" rIns="0" bIns="0" anchor="ctr">
            <a:spAutoFit/>
          </a:bodyPr>
          <a:lstStyle/>
          <a:p>
            <a:pPr algn="ctr">
              <a:lnSpc>
                <a:spcPct val="112000"/>
              </a:lnSpc>
            </a:pPr>
            <a:r>
              <a:rPr sz="1350" b="1" i="0">
                <a:solidFill>
                  <a:srgbClr val="FFFFFF"/>
                </a:solidFill>
                <a:latin typeface="Cambria"/>
              </a:rPr>
              <a:t>Intervention priority</a:t>
            </a:r>
          </a:p>
        </p:txBody>
      </p:sp>
      <p:pic>
        <p:nvPicPr>
          <p:cNvPr id="15" name="Picture 14" descr="fig_11_intervention_priority_quadrant_final.png"/>
          <p:cNvPicPr>
            <a:picLocks noChangeAspect="1"/>
          </p:cNvPicPr>
          <p:nvPr/>
        </p:nvPicPr>
        <p:blipFill>
          <a:blip r:embed="rId3"/>
          <a:stretch>
            <a:fillRect/>
          </a:stretch>
        </p:blipFill>
        <p:spPr>
          <a:xfrm>
            <a:off x="2633836" y="1828800"/>
            <a:ext cx="6924022" cy="4114800"/>
          </a:xfrm>
          <a:prstGeom prst="rect">
            <a:avLst/>
          </a:prstGeom>
        </p:spPr>
      </p:pic>
      <p:sp>
        <p:nvSpPr>
          <p:cNvPr id="16" name="TextBox 15"/>
          <p:cNvSpPr txBox="1"/>
          <p:nvPr/>
        </p:nvSpPr>
        <p:spPr>
          <a:xfrm>
            <a:off x="640080" y="6035040"/>
            <a:ext cx="10911535" cy="384048"/>
          </a:xfrm>
          <a:prstGeom prst="rect">
            <a:avLst/>
          </a:prstGeom>
          <a:noFill/>
        </p:spPr>
        <p:txBody>
          <a:bodyPr wrap="square" lIns="0" tIns="0" rIns="0" bIns="0" anchor="t">
            <a:spAutoFit/>
          </a:bodyPr>
          <a:lstStyle/>
          <a:p>
            <a:pPr algn="l">
              <a:lnSpc>
                <a:spcPct val="118000"/>
              </a:lnSpc>
            </a:pPr>
            <a:r>
              <a:rPr sz="1250" b="0" i="0">
                <a:solidFill>
                  <a:srgbClr val="57626D"/>
                </a:solidFill>
                <a:latin typeface="Calibri"/>
              </a:rPr>
              <a:t>Priority is an explicit lookup table across these three fields, not health plus a trend nudge added arithmetically -- confidence acts as a damper, so a low-evidence signal never drives urgent action alone.</a:t>
            </a:r>
          </a:p>
        </p:txBody>
      </p:sp>
      <p:sp>
        <p:nvSpPr>
          <p:cNvPr id="17" name="TextBox 16"/>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QSR_DRIVERS.csv, analysis/output/. n = 13,719 open locations; 499 with statistically-evidenced trend adjustment.</a:t>
            </a:r>
          </a:p>
        </p:txBody>
      </p:sp>
      <p:sp>
        <p:nvSpPr>
          <p:cNvPr id="18" name="TextBox 17"/>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10</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RECOMMENDATIONS  -  10</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500" b="1" i="0">
                <a:solidFill>
                  <a:srgbClr val="141F28"/>
                </a:solidFill>
                <a:latin typeface="Cambria"/>
              </a:rPr>
              <a:t>Three moves before this framework drives automated action</a:t>
            </a:r>
          </a:p>
        </p:txBody>
      </p:sp>
      <p:sp>
        <p:nvSpPr>
          <p:cNvPr id="4" name="Rounded Rectangle 3"/>
          <p:cNvSpPr/>
          <p:nvPr/>
        </p:nvSpPr>
        <p:spPr>
          <a:xfrm>
            <a:off x="640080" y="2103120"/>
            <a:ext cx="457200" cy="45720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103120"/>
            <a:ext cx="457200" cy="457200"/>
          </a:xfrm>
          <a:prstGeom prst="rect">
            <a:avLst/>
          </a:prstGeom>
          <a:noFill/>
        </p:spPr>
        <p:txBody>
          <a:bodyPr wrap="square" lIns="0" tIns="0" rIns="0" bIns="0" anchor="ctr">
            <a:spAutoFit/>
          </a:bodyPr>
          <a:lstStyle/>
          <a:p>
            <a:pPr algn="ctr">
              <a:lnSpc>
                <a:spcPct val="112000"/>
              </a:lnSpc>
            </a:pPr>
            <a:r>
              <a:rPr sz="1800" b="1" i="0">
                <a:solidFill>
                  <a:srgbClr val="2E6B78"/>
                </a:solidFill>
                <a:latin typeface="Cambria"/>
              </a:rPr>
              <a:t>1</a:t>
            </a:r>
          </a:p>
        </p:txBody>
      </p:sp>
      <p:sp>
        <p:nvSpPr>
          <p:cNvPr id="6" name="TextBox 5"/>
          <p:cNvSpPr txBox="1"/>
          <p:nvPr/>
        </p:nvSpPr>
        <p:spPr>
          <a:xfrm>
            <a:off x="640080" y="2697479"/>
            <a:ext cx="3393338" cy="685800"/>
          </a:xfrm>
          <a:prstGeom prst="rect">
            <a:avLst/>
          </a:prstGeom>
          <a:noFill/>
        </p:spPr>
        <p:txBody>
          <a:bodyPr wrap="square" lIns="0" tIns="0" rIns="0" bIns="0" anchor="t">
            <a:spAutoFit/>
          </a:bodyPr>
          <a:lstStyle/>
          <a:p>
            <a:pPr algn="l">
              <a:lnSpc>
                <a:spcPct val="110000"/>
              </a:lnSpc>
            </a:pPr>
            <a:r>
              <a:rPr sz="1750" b="1" i="0">
                <a:solidFill>
                  <a:srgbClr val="141F28"/>
                </a:solidFill>
                <a:latin typeface="Cambria"/>
              </a:rPr>
              <a:t>Strengthen the evidence</a:t>
            </a:r>
          </a:p>
        </p:txBody>
      </p:sp>
      <p:sp>
        <p:nvSpPr>
          <p:cNvPr id="7" name="Rounded Rectangle 6"/>
          <p:cNvSpPr/>
          <p:nvPr/>
        </p:nvSpPr>
        <p:spPr>
          <a:xfrm>
            <a:off x="640080" y="3538727"/>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474720"/>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Get a real outcome variable -- dated closures, sales trend, or pilot audit scores.</a:t>
            </a:r>
          </a:p>
        </p:txBody>
      </p:sp>
      <p:sp>
        <p:nvSpPr>
          <p:cNvPr id="9" name="Rounded Rectangle 8"/>
          <p:cNvSpPr/>
          <p:nvPr/>
        </p:nvSpPr>
        <p:spPr>
          <a:xfrm>
            <a:off x="640080" y="4590288"/>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526279"/>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Re-run sentiment validation against a multi-annotator gold set.</a:t>
            </a:r>
          </a:p>
        </p:txBody>
      </p:sp>
      <p:sp>
        <p:nvSpPr>
          <p:cNvPr id="11" name="Rounded Rectangle 10"/>
          <p:cNvSpPr/>
          <p:nvPr/>
        </p:nvSpPr>
        <p:spPr>
          <a:xfrm>
            <a:off x="4399178" y="2103120"/>
            <a:ext cx="457200" cy="45720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9178" y="2103120"/>
            <a:ext cx="457200" cy="457200"/>
          </a:xfrm>
          <a:prstGeom prst="rect">
            <a:avLst/>
          </a:prstGeom>
          <a:noFill/>
        </p:spPr>
        <p:txBody>
          <a:bodyPr wrap="square" lIns="0" tIns="0" rIns="0" bIns="0" anchor="ctr">
            <a:spAutoFit/>
          </a:bodyPr>
          <a:lstStyle/>
          <a:p>
            <a:pPr algn="ctr">
              <a:lnSpc>
                <a:spcPct val="112000"/>
              </a:lnSpc>
            </a:pPr>
            <a:r>
              <a:rPr sz="1800" b="1" i="0">
                <a:solidFill>
                  <a:srgbClr val="2E6B78"/>
                </a:solidFill>
                <a:latin typeface="Cambria"/>
              </a:rPr>
              <a:t>2</a:t>
            </a:r>
          </a:p>
        </p:txBody>
      </p:sp>
      <p:sp>
        <p:nvSpPr>
          <p:cNvPr id="13" name="TextBox 12"/>
          <p:cNvSpPr txBox="1"/>
          <p:nvPr/>
        </p:nvSpPr>
        <p:spPr>
          <a:xfrm>
            <a:off x="4399178" y="2697479"/>
            <a:ext cx="3393338" cy="685800"/>
          </a:xfrm>
          <a:prstGeom prst="rect">
            <a:avLst/>
          </a:prstGeom>
          <a:noFill/>
        </p:spPr>
        <p:txBody>
          <a:bodyPr wrap="square" lIns="0" tIns="0" rIns="0" bIns="0" anchor="t">
            <a:spAutoFit/>
          </a:bodyPr>
          <a:lstStyle/>
          <a:p>
            <a:pPr algn="l">
              <a:lnSpc>
                <a:spcPct val="110000"/>
              </a:lnSpc>
            </a:pPr>
            <a:r>
              <a:rPr sz="1750" b="1" i="0">
                <a:solidFill>
                  <a:srgbClr val="141F28"/>
                </a:solidFill>
                <a:latin typeface="Cambria"/>
              </a:rPr>
              <a:t>Govern the framework</a:t>
            </a:r>
          </a:p>
        </p:txBody>
      </p:sp>
      <p:sp>
        <p:nvSpPr>
          <p:cNvPr id="14" name="Rounded Rectangle 13"/>
          <p:cNvSpPr/>
          <p:nvPr/>
        </p:nvSpPr>
        <p:spPr>
          <a:xfrm>
            <a:off x="4399178" y="3538727"/>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18634" y="3474720"/>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Ship the priority lookup table as a governed artifact operators can read.</a:t>
            </a:r>
          </a:p>
        </p:txBody>
      </p:sp>
      <p:sp>
        <p:nvSpPr>
          <p:cNvPr id="16" name="Rounded Rectangle 15"/>
          <p:cNvSpPr/>
          <p:nvPr/>
        </p:nvSpPr>
        <p:spPr>
          <a:xfrm>
            <a:off x="4399178" y="4590288"/>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8634" y="4526279"/>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Version every threshold-based shortlist -- 38.4% of locations move rank under reasonable alternative weights.</a:t>
            </a:r>
          </a:p>
        </p:txBody>
      </p:sp>
      <p:sp>
        <p:nvSpPr>
          <p:cNvPr id="18" name="Rounded Rectangle 17"/>
          <p:cNvSpPr/>
          <p:nvPr/>
        </p:nvSpPr>
        <p:spPr>
          <a:xfrm>
            <a:off x="8158276" y="2103120"/>
            <a:ext cx="457200" cy="45720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58276" y="2103120"/>
            <a:ext cx="457200" cy="457200"/>
          </a:xfrm>
          <a:prstGeom prst="rect">
            <a:avLst/>
          </a:prstGeom>
          <a:noFill/>
        </p:spPr>
        <p:txBody>
          <a:bodyPr wrap="square" lIns="0" tIns="0" rIns="0" bIns="0" anchor="ctr">
            <a:spAutoFit/>
          </a:bodyPr>
          <a:lstStyle/>
          <a:p>
            <a:pPr algn="ctr">
              <a:lnSpc>
                <a:spcPct val="112000"/>
              </a:lnSpc>
            </a:pPr>
            <a:r>
              <a:rPr sz="1800" b="1" i="0">
                <a:solidFill>
                  <a:srgbClr val="2E6B78"/>
                </a:solidFill>
                <a:latin typeface="Cambria"/>
              </a:rPr>
              <a:t>3</a:t>
            </a:r>
          </a:p>
        </p:txBody>
      </p:sp>
      <p:sp>
        <p:nvSpPr>
          <p:cNvPr id="20" name="TextBox 19"/>
          <p:cNvSpPr txBox="1"/>
          <p:nvPr/>
        </p:nvSpPr>
        <p:spPr>
          <a:xfrm>
            <a:off x="8158276" y="2697479"/>
            <a:ext cx="3393338" cy="685800"/>
          </a:xfrm>
          <a:prstGeom prst="rect">
            <a:avLst/>
          </a:prstGeom>
          <a:noFill/>
        </p:spPr>
        <p:txBody>
          <a:bodyPr wrap="square" lIns="0" tIns="0" rIns="0" bIns="0" anchor="t">
            <a:spAutoFit/>
          </a:bodyPr>
          <a:lstStyle/>
          <a:p>
            <a:pPr algn="l">
              <a:lnSpc>
                <a:spcPct val="110000"/>
              </a:lnSpc>
            </a:pPr>
            <a:r>
              <a:rPr sz="1750" b="1" i="0">
                <a:solidFill>
                  <a:srgbClr val="141F28"/>
                </a:solidFill>
                <a:latin typeface="Cambria"/>
              </a:rPr>
              <a:t>Deploy responsibly</a:t>
            </a:r>
          </a:p>
        </p:txBody>
      </p:sp>
      <p:sp>
        <p:nvSpPr>
          <p:cNvPr id="21" name="Rounded Rectangle 20"/>
          <p:cNvSpPr/>
          <p:nvPr/>
        </p:nvSpPr>
        <p:spPr>
          <a:xfrm>
            <a:off x="8158276" y="3538727"/>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77732" y="3474720"/>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Pilot with analyst-in-the-loop review before wiring the priority queue into an automated workflow.</a:t>
            </a:r>
          </a:p>
        </p:txBody>
      </p:sp>
      <p:sp>
        <p:nvSpPr>
          <p:cNvPr id="23" name="TextBox 22"/>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QSR_LHI_Technical_Report_Agency5_v5.pdf, Section 12 (Recommendations).</a:t>
            </a:r>
          </a:p>
        </p:txBody>
      </p:sp>
      <p:sp>
        <p:nvSpPr>
          <p:cNvPr id="24" name="TextBox 23"/>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11</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LIMITATIONS  -  11</a:t>
            </a:r>
          </a:p>
        </p:txBody>
      </p:sp>
      <p:sp>
        <p:nvSpPr>
          <p:cNvPr id="3" name="TextBox 2"/>
          <p:cNvSpPr txBox="1"/>
          <p:nvPr/>
        </p:nvSpPr>
        <p:spPr>
          <a:xfrm>
            <a:off x="640080" y="676656"/>
            <a:ext cx="10911535" cy="914400"/>
          </a:xfrm>
          <a:prstGeom prst="rect">
            <a:avLst/>
          </a:prstGeom>
          <a:noFill/>
        </p:spPr>
        <p:txBody>
          <a:bodyPr wrap="square" lIns="0" tIns="0" rIns="0" bIns="0" anchor="t">
            <a:spAutoFit/>
          </a:bodyPr>
          <a:lstStyle/>
          <a:p>
            <a:pPr algn="l">
              <a:lnSpc>
                <a:spcPct val="108000"/>
              </a:lnSpc>
            </a:pPr>
            <a:r>
              <a:rPr sz="2500" b="1" i="0">
                <a:solidFill>
                  <a:srgbClr val="141F28"/>
                </a:solidFill>
                <a:latin typeface="Cambria"/>
              </a:rPr>
              <a:t>What this framework can't yet claim</a:t>
            </a:r>
          </a:p>
        </p:txBody>
      </p:sp>
      <p:sp>
        <p:nvSpPr>
          <p:cNvPr id="4" name="Rounded Rectangle 3"/>
          <p:cNvSpPr/>
          <p:nvPr/>
        </p:nvSpPr>
        <p:spPr>
          <a:xfrm>
            <a:off x="640080" y="2103120"/>
            <a:ext cx="457200" cy="45720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103120"/>
            <a:ext cx="457200" cy="457200"/>
          </a:xfrm>
          <a:prstGeom prst="rect">
            <a:avLst/>
          </a:prstGeom>
          <a:noFill/>
        </p:spPr>
        <p:txBody>
          <a:bodyPr wrap="square" lIns="0" tIns="0" rIns="0" bIns="0" anchor="ctr">
            <a:spAutoFit/>
          </a:bodyPr>
          <a:lstStyle/>
          <a:p>
            <a:pPr algn="ctr">
              <a:lnSpc>
                <a:spcPct val="112000"/>
              </a:lnSpc>
            </a:pPr>
            <a:r>
              <a:rPr sz="1800" b="1" i="0">
                <a:solidFill>
                  <a:srgbClr val="2E6B78"/>
                </a:solidFill>
                <a:latin typeface="Cambria"/>
              </a:rPr>
              <a:t>1</a:t>
            </a:r>
          </a:p>
        </p:txBody>
      </p:sp>
      <p:sp>
        <p:nvSpPr>
          <p:cNvPr id="6" name="TextBox 5"/>
          <p:cNvSpPr txBox="1"/>
          <p:nvPr/>
        </p:nvSpPr>
        <p:spPr>
          <a:xfrm>
            <a:off x="640080" y="2697479"/>
            <a:ext cx="3393338" cy="685800"/>
          </a:xfrm>
          <a:prstGeom prst="rect">
            <a:avLst/>
          </a:prstGeom>
          <a:noFill/>
        </p:spPr>
        <p:txBody>
          <a:bodyPr wrap="square" lIns="0" tIns="0" rIns="0" bIns="0" anchor="t">
            <a:spAutoFit/>
          </a:bodyPr>
          <a:lstStyle/>
          <a:p>
            <a:pPr algn="l">
              <a:lnSpc>
                <a:spcPct val="110000"/>
              </a:lnSpc>
            </a:pPr>
            <a:r>
              <a:rPr sz="1750" b="1" i="0">
                <a:solidFill>
                  <a:srgbClr val="141F28"/>
                </a:solidFill>
                <a:latin typeface="Cambria"/>
              </a:rPr>
              <a:t>No ground truth yet</a:t>
            </a:r>
          </a:p>
        </p:txBody>
      </p:sp>
      <p:sp>
        <p:nvSpPr>
          <p:cNvPr id="7" name="Rounded Rectangle 6"/>
          <p:cNvSpPr/>
          <p:nvPr/>
        </p:nvSpPr>
        <p:spPr>
          <a:xfrm>
            <a:off x="640080" y="3538727"/>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3474720"/>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No sales figures, confirmed closures, or audit outcomes exist in this dataset to check the score against.</a:t>
            </a:r>
          </a:p>
        </p:txBody>
      </p:sp>
      <p:sp>
        <p:nvSpPr>
          <p:cNvPr id="9" name="Rounded Rectangle 8"/>
          <p:cNvSpPr/>
          <p:nvPr/>
        </p:nvSpPr>
        <p:spPr>
          <a:xfrm>
            <a:off x="640080" y="4590288"/>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526279"/>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The data is a historical snapshot through January 2022, not a live feed of current conditions.</a:t>
            </a:r>
          </a:p>
        </p:txBody>
      </p:sp>
      <p:sp>
        <p:nvSpPr>
          <p:cNvPr id="11" name="Rounded Rectangle 10"/>
          <p:cNvSpPr/>
          <p:nvPr/>
        </p:nvSpPr>
        <p:spPr>
          <a:xfrm>
            <a:off x="4399178" y="2103120"/>
            <a:ext cx="457200" cy="45720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9178" y="2103120"/>
            <a:ext cx="457200" cy="457200"/>
          </a:xfrm>
          <a:prstGeom prst="rect">
            <a:avLst/>
          </a:prstGeom>
          <a:noFill/>
        </p:spPr>
        <p:txBody>
          <a:bodyPr wrap="square" lIns="0" tIns="0" rIns="0" bIns="0" anchor="ctr">
            <a:spAutoFit/>
          </a:bodyPr>
          <a:lstStyle/>
          <a:p>
            <a:pPr algn="ctr">
              <a:lnSpc>
                <a:spcPct val="112000"/>
              </a:lnSpc>
            </a:pPr>
            <a:r>
              <a:rPr sz="1800" b="1" i="0">
                <a:solidFill>
                  <a:srgbClr val="2E6B78"/>
                </a:solidFill>
                <a:latin typeface="Cambria"/>
              </a:rPr>
              <a:t>2</a:t>
            </a:r>
          </a:p>
        </p:txBody>
      </p:sp>
      <p:sp>
        <p:nvSpPr>
          <p:cNvPr id="13" name="TextBox 12"/>
          <p:cNvSpPr txBox="1"/>
          <p:nvPr/>
        </p:nvSpPr>
        <p:spPr>
          <a:xfrm>
            <a:off x="4399178" y="2697479"/>
            <a:ext cx="3393338" cy="685800"/>
          </a:xfrm>
          <a:prstGeom prst="rect">
            <a:avLst/>
          </a:prstGeom>
          <a:noFill/>
        </p:spPr>
        <p:txBody>
          <a:bodyPr wrap="square" lIns="0" tIns="0" rIns="0" bIns="0" anchor="t">
            <a:spAutoFit/>
          </a:bodyPr>
          <a:lstStyle/>
          <a:p>
            <a:pPr algn="l">
              <a:lnSpc>
                <a:spcPct val="110000"/>
              </a:lnSpc>
            </a:pPr>
            <a:r>
              <a:rPr sz="1750" b="1" i="0">
                <a:solidFill>
                  <a:srgbClr val="141F28"/>
                </a:solidFill>
                <a:latin typeface="Cambria"/>
              </a:rPr>
              <a:t>Simplifications we made</a:t>
            </a:r>
          </a:p>
        </p:txBody>
      </p:sp>
      <p:sp>
        <p:nvSpPr>
          <p:cNvPr id="14" name="Rounded Rectangle 13"/>
          <p:cNvSpPr/>
          <p:nvPr/>
        </p:nvSpPr>
        <p:spPr>
          <a:xfrm>
            <a:off x="4399178" y="3538727"/>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18634" y="3474720"/>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Review sentiment is read by a transparent, rule-based system, not a deep-learning model -- it can miss sarcasm.</a:t>
            </a:r>
          </a:p>
        </p:txBody>
      </p:sp>
      <p:sp>
        <p:nvSpPr>
          <p:cNvPr id="16" name="Rounded Rectangle 15"/>
          <p:cNvSpPr/>
          <p:nvPr/>
        </p:nvSpPr>
        <p:spPr>
          <a:xfrm>
            <a:off x="4399178" y="4590288"/>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18634" y="4526279"/>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Which businesses count as "QSR" was set by an automated rule, not manually checked one by one.</a:t>
            </a:r>
          </a:p>
        </p:txBody>
      </p:sp>
      <p:sp>
        <p:nvSpPr>
          <p:cNvPr id="18" name="Rounded Rectangle 17"/>
          <p:cNvSpPr/>
          <p:nvPr/>
        </p:nvSpPr>
        <p:spPr>
          <a:xfrm>
            <a:off x="8158276" y="2103120"/>
            <a:ext cx="457200" cy="457200"/>
          </a:xfrm>
          <a:prstGeom prst="roundRect">
            <a:avLst/>
          </a:prstGeom>
          <a:solidFill>
            <a:srgbClr val="E6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58276" y="2103120"/>
            <a:ext cx="457200" cy="457200"/>
          </a:xfrm>
          <a:prstGeom prst="rect">
            <a:avLst/>
          </a:prstGeom>
          <a:noFill/>
        </p:spPr>
        <p:txBody>
          <a:bodyPr wrap="square" lIns="0" tIns="0" rIns="0" bIns="0" anchor="ctr">
            <a:spAutoFit/>
          </a:bodyPr>
          <a:lstStyle/>
          <a:p>
            <a:pPr algn="ctr">
              <a:lnSpc>
                <a:spcPct val="112000"/>
              </a:lnSpc>
            </a:pPr>
            <a:r>
              <a:rPr sz="1800" b="1" i="0">
                <a:solidFill>
                  <a:srgbClr val="2E6B78"/>
                </a:solidFill>
                <a:latin typeface="Cambria"/>
              </a:rPr>
              <a:t>3</a:t>
            </a:r>
          </a:p>
        </p:txBody>
      </p:sp>
      <p:sp>
        <p:nvSpPr>
          <p:cNvPr id="20" name="TextBox 19"/>
          <p:cNvSpPr txBox="1"/>
          <p:nvPr/>
        </p:nvSpPr>
        <p:spPr>
          <a:xfrm>
            <a:off x="8158276" y="2697479"/>
            <a:ext cx="3393338" cy="685800"/>
          </a:xfrm>
          <a:prstGeom prst="rect">
            <a:avLst/>
          </a:prstGeom>
          <a:noFill/>
        </p:spPr>
        <p:txBody>
          <a:bodyPr wrap="square" lIns="0" tIns="0" rIns="0" bIns="0" anchor="t">
            <a:spAutoFit/>
          </a:bodyPr>
          <a:lstStyle/>
          <a:p>
            <a:pPr algn="l">
              <a:lnSpc>
                <a:spcPct val="110000"/>
              </a:lnSpc>
            </a:pPr>
            <a:r>
              <a:rPr sz="1750" b="1" i="0">
                <a:solidFill>
                  <a:srgbClr val="141F28"/>
                </a:solidFill>
                <a:latin typeface="Cambria"/>
              </a:rPr>
              <a:t>Not yet in scope</a:t>
            </a:r>
          </a:p>
        </p:txBody>
      </p:sp>
      <p:sp>
        <p:nvSpPr>
          <p:cNvPr id="21" name="Rounded Rectangle 20"/>
          <p:cNvSpPr/>
          <p:nvPr/>
        </p:nvSpPr>
        <p:spPr>
          <a:xfrm>
            <a:off x="8158276" y="3538727"/>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77732" y="3474720"/>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No roll-up across multi-location franchise ownership -- every location is scored on its own.</a:t>
            </a:r>
          </a:p>
        </p:txBody>
      </p:sp>
      <p:sp>
        <p:nvSpPr>
          <p:cNvPr id="23" name="Rounded Rectangle 22"/>
          <p:cNvSpPr/>
          <p:nvPr/>
        </p:nvSpPr>
        <p:spPr>
          <a:xfrm>
            <a:off x="8158276" y="4590288"/>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77732" y="4526279"/>
            <a:ext cx="3173882" cy="914400"/>
          </a:xfrm>
          <a:prstGeom prst="rect">
            <a:avLst/>
          </a:prstGeom>
          <a:noFill/>
        </p:spPr>
        <p:txBody>
          <a:bodyPr wrap="square" lIns="0" tIns="0" rIns="0" bIns="0" anchor="t">
            <a:spAutoFit/>
          </a:bodyPr>
          <a:lstStyle/>
          <a:p>
            <a:pPr algn="l">
              <a:lnSpc>
                <a:spcPct val="125000"/>
              </a:lnSpc>
            </a:pPr>
            <a:r>
              <a:rPr sz="1250" b="0" i="0">
                <a:solidFill>
                  <a:srgbClr val="57626D"/>
                </a:solidFill>
                <a:latin typeface="Calibri"/>
              </a:rPr>
              <a:t>A single location's exact rank can shift under different reasonable weightings; the overall picture does not.</a:t>
            </a:r>
          </a:p>
        </p:txBody>
      </p:sp>
      <p:sp>
        <p:nvSpPr>
          <p:cNvPr id="25" name="TextBox 24"/>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QSR_LHI_Technical_Report_Agency5_v5.pdf, Section 11 (Limitations and Assumptions).</a:t>
            </a:r>
          </a:p>
        </p:txBody>
      </p:sp>
      <p:sp>
        <p:nvSpPr>
          <p:cNvPr id="26" name="TextBox 25"/>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12</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8229600" cy="274320"/>
          </a:xfrm>
          <a:prstGeom prst="rect">
            <a:avLst/>
          </a:prstGeom>
          <a:noFill/>
        </p:spPr>
        <p:txBody>
          <a:bodyPr wrap="square" lIns="0" tIns="0" rIns="0" bIns="0" anchor="t">
            <a:spAutoFit/>
          </a:bodyPr>
          <a:lstStyle/>
          <a:p>
            <a:pPr algn="l">
              <a:lnSpc>
                <a:spcPct val="112000"/>
              </a:lnSpc>
            </a:pPr>
            <a:r>
              <a:rPr sz="1100" b="1" i="0">
                <a:solidFill>
                  <a:srgbClr val="2E6B78"/>
                </a:solidFill>
                <a:latin typeface="Calibri"/>
              </a:rPr>
              <a:t>CONCLUSION  -  12</a:t>
            </a:r>
          </a:p>
        </p:txBody>
      </p:sp>
      <p:pic>
        <p:nvPicPr>
          <p:cNvPr id="3" name="Picture 2" descr="fig_p7_early_warning_final.png"/>
          <p:cNvPicPr>
            <a:picLocks noChangeAspect="1"/>
          </p:cNvPicPr>
          <p:nvPr/>
        </p:nvPicPr>
        <p:blipFill>
          <a:blip r:embed="rId3"/>
          <a:stretch>
            <a:fillRect/>
          </a:stretch>
        </p:blipFill>
        <p:spPr>
          <a:xfrm>
            <a:off x="640080" y="2111716"/>
            <a:ext cx="5673998" cy="2863167"/>
          </a:xfrm>
          <a:prstGeom prst="rect">
            <a:avLst/>
          </a:prstGeom>
        </p:spPr>
      </p:pic>
      <p:sp>
        <p:nvSpPr>
          <p:cNvPr id="4" name="Rounded Rectangle 3"/>
          <p:cNvSpPr/>
          <p:nvPr/>
        </p:nvSpPr>
        <p:spPr>
          <a:xfrm>
            <a:off x="6771278" y="1746504"/>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09022" y="1691640"/>
            <a:ext cx="4542592" cy="1005840"/>
          </a:xfrm>
          <a:prstGeom prst="rect">
            <a:avLst/>
          </a:prstGeom>
          <a:noFill/>
        </p:spPr>
        <p:txBody>
          <a:bodyPr wrap="square" lIns="0" tIns="0" rIns="0" bIns="0" anchor="t">
            <a:spAutoFit/>
          </a:bodyPr>
          <a:lstStyle/>
          <a:p>
            <a:pPr algn="l">
              <a:lnSpc>
                <a:spcPct val="130000"/>
              </a:lnSpc>
            </a:pPr>
            <a:r>
              <a:rPr sz="1500" b="0" i="0">
                <a:solidFill>
                  <a:srgbClr val="141F28"/>
                </a:solidFill>
                <a:latin typeface="Calibri"/>
              </a:rPr>
              <a:t>One defensible score for 19,154 locations, tested against three alternatives.</a:t>
            </a:r>
          </a:p>
        </p:txBody>
      </p:sp>
      <p:sp>
        <p:nvSpPr>
          <p:cNvPr id="6" name="Rounded Rectangle 5"/>
          <p:cNvSpPr/>
          <p:nvPr/>
        </p:nvSpPr>
        <p:spPr>
          <a:xfrm>
            <a:off x="6771278" y="2980944"/>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09022" y="2926080"/>
            <a:ext cx="4542592" cy="1005840"/>
          </a:xfrm>
          <a:prstGeom prst="rect">
            <a:avLst/>
          </a:prstGeom>
          <a:noFill/>
        </p:spPr>
        <p:txBody>
          <a:bodyPr wrap="square" lIns="0" tIns="0" rIns="0" bIns="0" anchor="t">
            <a:spAutoFit/>
          </a:bodyPr>
          <a:lstStyle/>
          <a:p>
            <a:pPr algn="l">
              <a:lnSpc>
                <a:spcPct val="130000"/>
              </a:lnSpc>
            </a:pPr>
            <a:r>
              <a:rPr sz="1500" b="0" i="0">
                <a:solidFill>
                  <a:srgbClr val="141F28"/>
                </a:solidFill>
                <a:latin typeface="Calibri"/>
              </a:rPr>
              <a:t>Direction, evidence strength, and priority -- what a score alone cannot show.</a:t>
            </a:r>
          </a:p>
        </p:txBody>
      </p:sp>
      <p:sp>
        <p:nvSpPr>
          <p:cNvPr id="8" name="Rounded Rectangle 7"/>
          <p:cNvSpPr/>
          <p:nvPr/>
        </p:nvSpPr>
        <p:spPr>
          <a:xfrm>
            <a:off x="6771278" y="4215384"/>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09022" y="4160520"/>
            <a:ext cx="4542592" cy="1005840"/>
          </a:xfrm>
          <a:prstGeom prst="rect">
            <a:avLst/>
          </a:prstGeom>
          <a:noFill/>
        </p:spPr>
        <p:txBody>
          <a:bodyPr wrap="square" lIns="0" tIns="0" rIns="0" bIns="0" anchor="t">
            <a:spAutoFit/>
          </a:bodyPr>
          <a:lstStyle/>
          <a:p>
            <a:pPr algn="l">
              <a:lnSpc>
                <a:spcPct val="130000"/>
              </a:lnSpc>
            </a:pPr>
            <a:r>
              <a:rPr sz="1500" b="0" i="0">
                <a:solidFill>
                  <a:srgbClr val="141F28"/>
                </a:solidFill>
                <a:latin typeface="Calibri"/>
              </a:rPr>
              <a:t>For VP Analytics: a ranked, evidence-backed shortlist operators can act on today.</a:t>
            </a:r>
          </a:p>
        </p:txBody>
      </p:sp>
      <p:sp>
        <p:nvSpPr>
          <p:cNvPr id="10" name="Rounded Rectangle 9"/>
          <p:cNvSpPr/>
          <p:nvPr/>
        </p:nvSpPr>
        <p:spPr>
          <a:xfrm>
            <a:off x="6771278" y="5449824"/>
            <a:ext cx="73152" cy="73152"/>
          </a:xfrm>
          <a:prstGeom prst="roundRect">
            <a:avLst/>
          </a:prstGeom>
          <a:solidFill>
            <a:srgbClr val="2E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09022" y="5394960"/>
            <a:ext cx="4542592" cy="1005840"/>
          </a:xfrm>
          <a:prstGeom prst="rect">
            <a:avLst/>
          </a:prstGeom>
          <a:noFill/>
        </p:spPr>
        <p:txBody>
          <a:bodyPr wrap="square" lIns="0" tIns="0" rIns="0" bIns="0" anchor="t">
            <a:spAutoFit/>
          </a:bodyPr>
          <a:lstStyle/>
          <a:p>
            <a:pPr algn="l">
              <a:lnSpc>
                <a:spcPct val="130000"/>
              </a:lnSpc>
            </a:pPr>
            <a:r>
              <a:rPr sz="1500" b="0" i="0">
                <a:solidFill>
                  <a:srgbClr val="141F28"/>
                </a:solidFill>
                <a:latin typeface="Calibri"/>
              </a:rPr>
              <a:t>The practical value is what this framework refuses to claim, as much as what it finds.</a:t>
            </a:r>
          </a:p>
        </p:txBody>
      </p:sp>
      <p:sp>
        <p:nvSpPr>
          <p:cNvPr id="12" name="TextBox 11"/>
          <p:cNvSpPr txBox="1"/>
          <p:nvPr/>
        </p:nvSpPr>
        <p:spPr>
          <a:xfrm>
            <a:off x="640080" y="6473952"/>
            <a:ext cx="10362895" cy="320040"/>
          </a:xfrm>
          <a:prstGeom prst="rect">
            <a:avLst/>
          </a:prstGeom>
          <a:noFill/>
        </p:spPr>
        <p:txBody>
          <a:bodyPr wrap="square" lIns="0" tIns="0" rIns="0" bIns="0" anchor="t">
            <a:spAutoFit/>
          </a:bodyPr>
          <a:lstStyle/>
          <a:p>
            <a:pPr algn="l">
              <a:lnSpc>
                <a:spcPct val="112000"/>
              </a:lnSpc>
            </a:pPr>
            <a:r>
              <a:rPr sz="950" b="0" i="1">
                <a:solidFill>
                  <a:srgbClr val="8B93A0"/>
                </a:solidFill>
                <a:latin typeface="Calibri"/>
              </a:rPr>
              <a:t>Source: QSR_DRIVERS.csv, QSR_FINAL_LHI_DATA.csv, dashboard/data/meta.json (trajectoryCounts). n = 347 open, statistically-evidenced deteriorating locations.</a:t>
            </a:r>
          </a:p>
        </p:txBody>
      </p:sp>
      <p:sp>
        <p:nvSpPr>
          <p:cNvPr id="13" name="TextBox 12"/>
          <p:cNvSpPr txBox="1"/>
          <p:nvPr/>
        </p:nvSpPr>
        <p:spPr>
          <a:xfrm>
            <a:off x="11414455" y="6473952"/>
            <a:ext cx="457200" cy="274320"/>
          </a:xfrm>
          <a:prstGeom prst="rect">
            <a:avLst/>
          </a:prstGeom>
          <a:noFill/>
        </p:spPr>
        <p:txBody>
          <a:bodyPr wrap="square" lIns="0" tIns="0" rIns="0" bIns="0" anchor="t">
            <a:spAutoFit/>
          </a:bodyPr>
          <a:lstStyle/>
          <a:p>
            <a:pPr algn="r">
              <a:lnSpc>
                <a:spcPct val="112000"/>
              </a:lnSpc>
            </a:pPr>
            <a:r>
              <a:rPr sz="950" b="0" i="0">
                <a:solidFill>
                  <a:srgbClr val="8B93A0"/>
                </a:solidFill>
                <a:latin typeface="Calibri"/>
              </a:rPr>
              <a:t>13</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F28"/>
        </a:solidFill>
        <a:effectLst/>
      </p:bgPr>
    </p:bg>
    <p:spTree>
      <p:nvGrpSpPr>
        <p:cNvPr id="1" name=""/>
        <p:cNvGrpSpPr/>
        <p:nvPr/>
      </p:nvGrpSpPr>
      <p:grpSpPr>
        <a:xfrm>
          <a:off x="0" y="0"/>
          <a:ext cx="0" cy="0"/>
          <a:chOff x="0" y="0"/>
          <a:chExt cx="0" cy="0"/>
        </a:xfrm>
      </p:grpSpPr>
      <p:sp>
        <p:nvSpPr>
          <p:cNvPr id="2" name="TextBox 1"/>
          <p:cNvSpPr txBox="1"/>
          <p:nvPr/>
        </p:nvSpPr>
        <p:spPr>
          <a:xfrm>
            <a:off x="640080" y="2788920"/>
            <a:ext cx="10515600" cy="1005840"/>
          </a:xfrm>
          <a:prstGeom prst="rect">
            <a:avLst/>
          </a:prstGeom>
          <a:noFill/>
        </p:spPr>
        <p:txBody>
          <a:bodyPr wrap="square" lIns="0" tIns="0" rIns="0" bIns="0" anchor="t">
            <a:spAutoFit/>
          </a:bodyPr>
          <a:lstStyle/>
          <a:p>
            <a:pPr algn="l">
              <a:lnSpc>
                <a:spcPct val="112000"/>
              </a:lnSpc>
            </a:pPr>
            <a:r>
              <a:rPr sz="4800" b="1" i="0">
                <a:solidFill>
                  <a:srgbClr val="FFFFFF"/>
                </a:solidFill>
                <a:latin typeface="Cambria"/>
              </a:rPr>
              <a:t>Thank you</a:t>
            </a:r>
          </a:p>
        </p:txBody>
      </p:sp>
      <p:sp>
        <p:nvSpPr>
          <p:cNvPr id="3" name="TextBox 2"/>
          <p:cNvSpPr txBox="1"/>
          <p:nvPr/>
        </p:nvSpPr>
        <p:spPr>
          <a:xfrm>
            <a:off x="640080" y="3794760"/>
            <a:ext cx="9692640" cy="548640"/>
          </a:xfrm>
          <a:prstGeom prst="rect">
            <a:avLst/>
          </a:prstGeom>
          <a:noFill/>
        </p:spPr>
        <p:txBody>
          <a:bodyPr wrap="square" lIns="0" tIns="0" rIns="0" bIns="0" anchor="t">
            <a:spAutoFit/>
          </a:bodyPr>
          <a:lstStyle/>
          <a:p>
            <a:pPr algn="l">
              <a:lnSpc>
                <a:spcPct val="112000"/>
              </a:lnSpc>
            </a:pPr>
            <a:r>
              <a:rPr sz="1800" b="0" i="0">
                <a:solidFill>
                  <a:srgbClr val="A9B2BD"/>
                </a:solidFill>
                <a:latin typeface="Cambria"/>
              </a:rPr>
              <a:t>Questions and discussion</a:t>
            </a:r>
          </a:p>
        </p:txBody>
      </p:sp>
      <p:sp>
        <p:nvSpPr>
          <p:cNvPr id="4" name="TextBox 3"/>
          <p:cNvSpPr txBox="1"/>
          <p:nvPr/>
        </p:nvSpPr>
        <p:spPr>
          <a:xfrm>
            <a:off x="640080" y="6263640"/>
            <a:ext cx="10911535" cy="365760"/>
          </a:xfrm>
          <a:prstGeom prst="rect">
            <a:avLst/>
          </a:prstGeom>
          <a:noFill/>
        </p:spPr>
        <p:txBody>
          <a:bodyPr wrap="square" lIns="0" tIns="0" rIns="0" bIns="0" anchor="t">
            <a:spAutoFit/>
          </a:bodyPr>
          <a:lstStyle/>
          <a:p>
            <a:pPr algn="l">
              <a:lnSpc>
                <a:spcPct val="112000"/>
              </a:lnSpc>
            </a:pPr>
            <a:r>
              <a:rPr sz="1100" b="0" i="1">
                <a:solidFill>
                  <a:srgbClr val="7C8794"/>
                </a:solidFill>
                <a:latin typeface="Calibri"/>
              </a:rPr>
              <a:t>Agency 5  -  LSE Data Analytics Career Accelerator  -  QSR Location Health Index</a:t>
            </a:r>
          </a:p>
        </p:txBody>
      </p:sp>
      <p:pic>
        <p:nvPicPr>
          <p:cNvPr id="6" name="Picture 5" descr="logo_teal_crop.png">
            <a:extLst>
              <a:ext uri="{FF2B5EF4-FFF2-40B4-BE49-F238E27FC236}">
                <a16:creationId xmlns:a16="http://schemas.microsoft.com/office/drawing/2014/main" id="{08E2F738-2901-EFCB-79AE-525769402D0E}"/>
              </a:ext>
            </a:extLst>
          </p:cNvPr>
          <p:cNvPicPr>
            <a:picLocks noChangeAspect="1"/>
          </p:cNvPicPr>
          <p:nvPr/>
        </p:nvPicPr>
        <p:blipFill>
          <a:blip r:embed="rId3"/>
          <a:stretch>
            <a:fillRect/>
          </a:stretch>
        </p:blipFill>
        <p:spPr>
          <a:xfrm>
            <a:off x="1407219" y="1268404"/>
            <a:ext cx="1417320" cy="97187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3298</Words>
  <Application>Microsoft Office PowerPoint</Application>
  <PresentationFormat>Widescreen</PresentationFormat>
  <Paragraphs>200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Sharath Chandra</cp:lastModifiedBy>
  <cp:revision>3</cp:revision>
  <dcterms:created xsi:type="dcterms:W3CDTF">2013-01-27T09:14:16Z</dcterms:created>
  <dcterms:modified xsi:type="dcterms:W3CDTF">2026-09-16T12:58:30Z</dcterms:modified>
  <cp:category/>
</cp:coreProperties>
</file>